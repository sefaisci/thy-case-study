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1675"/>
  <p:notesSz cx="6858000" cy="12191675"/>
  <p:embeddedFontLst>
    <p:embeddedFont>
      <p:font typeface="Noto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NotoSans-regular.fntdata"/><Relationship Id="rId14" Type="http://schemas.openxmlformats.org/officeDocument/2006/relationships/slide" Target="slides/slide10.xml"/><Relationship Id="rId17" Type="http://schemas.openxmlformats.org/officeDocument/2006/relationships/font" Target="fonts/NotoSans-italic.fntdata"/><Relationship Id="rId16" Type="http://schemas.openxmlformats.org/officeDocument/2006/relationships/font" Target="fonts/NotoSan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NotoSans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33.png"/><Relationship Id="rId6" Type="http://schemas.openxmlformats.org/officeDocument/2006/relationships/image" Target="../media/image14.png"/><Relationship Id="rId7" Type="http://schemas.openxmlformats.org/officeDocument/2006/relationships/image" Target="../media/image3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Relationship Id="rId11" Type="http://schemas.openxmlformats.org/officeDocument/2006/relationships/image" Target="../media/image1.png"/><Relationship Id="rId10" Type="http://schemas.openxmlformats.org/officeDocument/2006/relationships/image" Target="../media/image6.png"/><Relationship Id="rId9" Type="http://schemas.openxmlformats.org/officeDocument/2006/relationships/image" Target="../media/image4.png"/><Relationship Id="rId5" Type="http://schemas.openxmlformats.org/officeDocument/2006/relationships/image" Target="../media/image35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2.png"/><Relationship Id="rId4" Type="http://schemas.openxmlformats.org/officeDocument/2006/relationships/image" Target="../media/image21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image" Target="../media/image27.png"/><Relationship Id="rId8" Type="http://schemas.openxmlformats.org/officeDocument/2006/relationships/image" Target="../media/image3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10" Type="http://schemas.openxmlformats.org/officeDocument/2006/relationships/image" Target="../media/image35.png"/><Relationship Id="rId9" Type="http://schemas.openxmlformats.org/officeDocument/2006/relationships/image" Target="../media/image31.png"/><Relationship Id="rId5" Type="http://schemas.openxmlformats.org/officeDocument/2006/relationships/image" Target="../media/image16.png"/><Relationship Id="rId6" Type="http://schemas.openxmlformats.org/officeDocument/2006/relationships/image" Target="../media/image5.png"/><Relationship Id="rId7" Type="http://schemas.openxmlformats.org/officeDocument/2006/relationships/image" Target="../media/image10.png"/><Relationship Id="rId8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3.png"/><Relationship Id="rId4" Type="http://schemas.openxmlformats.org/officeDocument/2006/relationships/image" Target="../media/image5.png"/><Relationship Id="rId9" Type="http://schemas.openxmlformats.org/officeDocument/2006/relationships/image" Target="../media/image35.png"/><Relationship Id="rId5" Type="http://schemas.openxmlformats.org/officeDocument/2006/relationships/image" Target="../media/image20.png"/><Relationship Id="rId6" Type="http://schemas.openxmlformats.org/officeDocument/2006/relationships/image" Target="../media/image10.png"/><Relationship Id="rId7" Type="http://schemas.openxmlformats.org/officeDocument/2006/relationships/image" Target="../media/image14.png"/><Relationship Id="rId8" Type="http://schemas.openxmlformats.org/officeDocument/2006/relationships/image" Target="../media/image2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3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Relationship Id="rId6" Type="http://schemas.openxmlformats.org/officeDocument/2006/relationships/image" Target="../media/image3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B2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85800" y="658368"/>
            <a:ext cx="5303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A7D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FF6A7D"/>
                </a:solidFill>
                <a:latin typeface="Noto Sans"/>
                <a:ea typeface="Noto Sans"/>
                <a:cs typeface="Noto Sans"/>
                <a:sym typeface="Noto Sans"/>
              </a:rPr>
              <a:t>THY SENIOR AI ENGINEER CASE STUDY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685800" y="1225296"/>
            <a:ext cx="69494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Noto Sans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Cabin Knowledge</a:t>
            </a:r>
            <a:endParaRPr b="0" i="0" sz="4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Noto Sans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Assistant</a:t>
            </a:r>
            <a:endParaRPr b="0" i="0" sz="4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713232" y="3081528"/>
            <a:ext cx="6309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FEA"/>
              </a:buClr>
              <a:buSzPts val="1900"/>
              <a:buFont typeface="Noto Sans"/>
              <a:buNone/>
            </a:pPr>
            <a:r>
              <a:rPr b="0" i="0" lang="en-US" sz="1900" u="none" cap="none" strike="noStrike">
                <a:solidFill>
                  <a:srgbClr val="D7DFEA"/>
                </a:solidFill>
                <a:latin typeface="Noto Sans"/>
                <a:ea typeface="Noto Sans"/>
                <a:cs typeface="Noto Sans"/>
                <a:sym typeface="Noto Sans"/>
              </a:rPr>
              <a:t>Özel dokümanlar için güvenli, kaynak gösteren ve ölçeklenebilir Agentic RAG</a:t>
            </a:r>
            <a:endParaRPr b="0" i="0" sz="1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13232" y="4096512"/>
            <a:ext cx="1700784" cy="310896"/>
          </a:xfrm>
          <a:prstGeom prst="roundRect">
            <a:avLst>
              <a:gd fmla="val 23529" name="adj"/>
            </a:avLst>
          </a:prstGeom>
          <a:solidFill>
            <a:srgbClr val="C8102E"/>
          </a:solidFill>
          <a:ln cap="flat" cmpd="sng" w="9525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786384" y="4123944"/>
            <a:ext cx="1554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PDF · DOCX · PPTX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2551176" y="4096512"/>
            <a:ext cx="1316736" cy="310896"/>
          </a:xfrm>
          <a:prstGeom prst="roundRect">
            <a:avLst>
              <a:gd fmla="val 23529" name="adj"/>
            </a:avLst>
          </a:prstGeom>
          <a:solidFill>
            <a:srgbClr val="1A2941"/>
          </a:solidFill>
          <a:ln cap="flat" cmpd="sng" w="9525">
            <a:solidFill>
              <a:srgbClr val="5363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2624328" y="4123944"/>
            <a:ext cx="11704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Noto Sans"/>
              <a:buNone/>
            </a:pPr>
            <a:r>
              <a:rPr b="1" lang="en-US" sz="92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LangGraph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005072" y="4096512"/>
            <a:ext cx="1078992" cy="310896"/>
          </a:xfrm>
          <a:prstGeom prst="roundRect">
            <a:avLst>
              <a:gd fmla="val 23529" name="adj"/>
            </a:avLst>
          </a:prstGeom>
          <a:solidFill>
            <a:srgbClr val="1A2941"/>
          </a:solidFill>
          <a:ln cap="flat" cmpd="sng" w="9525">
            <a:solidFill>
              <a:srgbClr val="5363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4078224" y="4123944"/>
            <a:ext cx="9326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Noto Sans"/>
              <a:buNone/>
            </a:pPr>
            <a:r>
              <a:rPr b="1" lang="en-US" sz="92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Qdrant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5221224" y="4096512"/>
            <a:ext cx="1042416" cy="310896"/>
          </a:xfrm>
          <a:prstGeom prst="roundRect">
            <a:avLst>
              <a:gd fmla="val 23529" name="adj"/>
            </a:avLst>
          </a:prstGeom>
          <a:solidFill>
            <a:srgbClr val="1A2941"/>
          </a:solidFill>
          <a:ln cap="flat" cmpd="sng" w="9525">
            <a:solidFill>
              <a:srgbClr val="5363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5294376" y="4123944"/>
            <a:ext cx="8961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Noto Sans"/>
              <a:buNone/>
            </a:pPr>
            <a:r>
              <a:rPr b="1" lang="en-US" sz="92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OpenAI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713232" y="571500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1B4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94A1B4"/>
                </a:solidFill>
                <a:latin typeface="Noto Sans"/>
                <a:ea typeface="Noto Sans"/>
                <a:cs typeface="Noto Sans"/>
                <a:sym typeface="Noto Sans"/>
              </a:rPr>
              <a:t>Hazırlayan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713232" y="5961888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Noto Sans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Sefa İşci</a:t>
            </a:r>
            <a:endParaRPr b="0" i="0" sz="15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9646920" y="5989320"/>
            <a:ext cx="15727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9C4D3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B9C4D3"/>
                </a:solidFill>
                <a:latin typeface="Noto Sans"/>
                <a:ea typeface="Noto Sans"/>
                <a:cs typeface="Noto Sans"/>
                <a:sym typeface="Noto Sans"/>
              </a:rPr>
              <a:t>13 Temmuz 2026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30" name="Google Shape;30;p3" title="thy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2776" y="-513675"/>
            <a:ext cx="4665700" cy="349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566928" y="329184"/>
            <a:ext cx="2926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C8102E"/>
                </a:solidFill>
                <a:latin typeface="Noto Sans"/>
                <a:ea typeface="Noto Sans"/>
                <a:cs typeface="Noto Sans"/>
                <a:sym typeface="Noto Sans"/>
              </a:rPr>
              <a:t>THY CASE STUDY  /  02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66928" y="713232"/>
            <a:ext cx="106527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2800"/>
              <a:buFont typeface="Noto Sans"/>
              <a:buNone/>
            </a:pPr>
            <a:r>
              <a:rPr b="1" i="0" lang="en-US" sz="280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Değerlendirme problemini nasıl ele aldım?</a:t>
            </a:r>
            <a:endParaRPr b="0" i="0" sz="2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85216" y="1271016"/>
            <a:ext cx="10561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173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526173"/>
                </a:solidFill>
                <a:latin typeface="Noto Sans"/>
                <a:ea typeface="Noto Sans"/>
                <a:cs typeface="Noto Sans"/>
                <a:sym typeface="Noto Sans"/>
              </a:rPr>
              <a:t>Hedef yalnız çalışan bir chatbot değil; doğrulanabilir ve büyüyebilir bir doküman zekâsı ürünüydü.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" name="Google Shape;39;p4"/>
          <p:cNvSpPr/>
          <p:nvPr/>
        </p:nvSpPr>
        <p:spPr>
          <a:xfrm rot="720000">
            <a:off x="10863072" y="45720"/>
            <a:ext cx="950976" cy="658368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C8102E">
              <a:alpha val="0"/>
            </a:srgbClr>
          </a:solidFill>
          <a:ln cap="flat" cmpd="sng" w="27925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11676888" y="411480"/>
            <a:ext cx="100584" cy="100584"/>
          </a:xfrm>
          <a:prstGeom prst="ellipse">
            <a:avLst/>
          </a:prstGeom>
          <a:solidFill>
            <a:srgbClr val="C8102E"/>
          </a:solidFill>
          <a:ln cap="flat" cmpd="sng" w="12700">
            <a:solidFill>
              <a:srgbClr val="C810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566928" y="1764792"/>
            <a:ext cx="3685032" cy="4096512"/>
          </a:xfrm>
          <a:prstGeom prst="roundRect">
            <a:avLst>
              <a:gd fmla="val 1489" name="adj"/>
            </a:avLst>
          </a:prstGeom>
          <a:solidFill>
            <a:srgbClr val="111B2E"/>
          </a:solidFill>
          <a:ln cap="flat" cmpd="sng" w="10150">
            <a:solidFill>
              <a:srgbClr val="111B2E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859536" y="2029968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Noto San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İş ihtiyacı</a:t>
            </a:r>
            <a:endParaRPr b="0" i="0" sz="2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877824" y="2688336"/>
            <a:ext cx="109728" cy="109728"/>
          </a:xfrm>
          <a:prstGeom prst="ellipse">
            <a:avLst/>
          </a:prstGeom>
          <a:solidFill>
            <a:srgbClr val="C8102E"/>
          </a:solidFill>
          <a:ln cap="flat" cmpd="sng" w="12700">
            <a:solidFill>
              <a:srgbClr val="C810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1097280" y="2578608"/>
            <a:ext cx="2834640" cy="557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320"/>
              <a:buFont typeface="Noto Sans"/>
              <a:buNone/>
            </a:pPr>
            <a:r>
              <a:rPr b="0" i="0" lang="en-US" sz="1320" u="none" cap="none" strike="noStrike">
                <a:solidFill>
                  <a:srgbClr val="E7ECF3"/>
                </a:solidFill>
                <a:latin typeface="Noto Sans"/>
                <a:ea typeface="Noto Sans"/>
                <a:cs typeface="Noto Sans"/>
                <a:sym typeface="Noto Sans"/>
              </a:rPr>
              <a:t>Kullanıcı kendi dokümanını yükleyebilmeli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877824" y="3246120"/>
            <a:ext cx="109728" cy="109728"/>
          </a:xfrm>
          <a:prstGeom prst="ellipse">
            <a:avLst/>
          </a:prstGeom>
          <a:solidFill>
            <a:srgbClr val="C8102E"/>
          </a:solidFill>
          <a:ln cap="flat" cmpd="sng" w="12700">
            <a:solidFill>
              <a:srgbClr val="C810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1097280" y="3136392"/>
            <a:ext cx="2834640" cy="557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320"/>
              <a:buFont typeface="Noto Sans"/>
              <a:buNone/>
            </a:pPr>
            <a:r>
              <a:rPr b="0" i="0" lang="en-US" sz="1320" u="none" cap="none" strike="noStrike">
                <a:solidFill>
                  <a:srgbClr val="E7ECF3"/>
                </a:solidFill>
                <a:latin typeface="Noto Sans"/>
                <a:ea typeface="Noto Sans"/>
                <a:cs typeface="Noto Sans"/>
                <a:sym typeface="Noto Sans"/>
              </a:rPr>
              <a:t>Birden fazla kaynaktan soru sorabilmeli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877824" y="3803904"/>
            <a:ext cx="109728" cy="109728"/>
          </a:xfrm>
          <a:prstGeom prst="ellipse">
            <a:avLst/>
          </a:prstGeom>
          <a:solidFill>
            <a:srgbClr val="C8102E"/>
          </a:solidFill>
          <a:ln cap="flat" cmpd="sng" w="12700">
            <a:solidFill>
              <a:srgbClr val="C810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1097280" y="3694176"/>
            <a:ext cx="2834640" cy="557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320"/>
              <a:buFont typeface="Noto Sans"/>
              <a:buNone/>
            </a:pPr>
            <a:r>
              <a:rPr b="0" i="0" lang="en-US" sz="1320" u="none" cap="none" strike="noStrike">
                <a:solidFill>
                  <a:srgbClr val="E7ECF3"/>
                </a:solidFill>
                <a:latin typeface="Noto Sans"/>
                <a:ea typeface="Noto Sans"/>
                <a:cs typeface="Noto Sans"/>
                <a:sym typeface="Noto Sans"/>
              </a:rPr>
              <a:t>Cevabın dayanağını görebilmeli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877824" y="4361688"/>
            <a:ext cx="109728" cy="109728"/>
          </a:xfrm>
          <a:prstGeom prst="ellipse">
            <a:avLst/>
          </a:prstGeom>
          <a:solidFill>
            <a:srgbClr val="C8102E"/>
          </a:solidFill>
          <a:ln cap="flat" cmpd="sng" w="12700">
            <a:solidFill>
              <a:srgbClr val="C810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1097280" y="4251960"/>
            <a:ext cx="2834640" cy="557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320"/>
              <a:buFont typeface="Noto Sans"/>
              <a:buNone/>
            </a:pPr>
            <a:r>
              <a:rPr b="0" i="0" lang="en-US" sz="1320" u="none" cap="none" strike="noStrike">
                <a:solidFill>
                  <a:srgbClr val="E7ECF3"/>
                </a:solidFill>
                <a:latin typeface="Noto Sans"/>
                <a:ea typeface="Noto Sans"/>
                <a:cs typeface="Noto Sans"/>
                <a:sym typeface="Noto Sans"/>
              </a:rPr>
              <a:t>Büyük belgelerde performans korunmalı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877824" y="4919472"/>
            <a:ext cx="109728" cy="109728"/>
          </a:xfrm>
          <a:prstGeom prst="ellipse">
            <a:avLst/>
          </a:prstGeom>
          <a:solidFill>
            <a:srgbClr val="C8102E"/>
          </a:solidFill>
          <a:ln cap="flat" cmpd="sng" w="12700">
            <a:solidFill>
              <a:srgbClr val="C810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1097280" y="4809744"/>
            <a:ext cx="2834640" cy="557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320"/>
              <a:buFont typeface="Noto Sans"/>
              <a:buNone/>
            </a:pPr>
            <a:r>
              <a:rPr b="0" i="0" lang="en-US" sz="1320" u="none" cap="none" strike="noStrike">
                <a:solidFill>
                  <a:srgbClr val="E7ECF3"/>
                </a:solidFill>
                <a:latin typeface="Noto Sans"/>
                <a:ea typeface="Noto Sans"/>
                <a:cs typeface="Noto Sans"/>
                <a:sym typeface="Noto Sans"/>
              </a:rPr>
              <a:t>Gelecekte binlerce dokümana ölçeklenmeli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645152" y="1792224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2000"/>
              <a:buFont typeface="Noto Sans"/>
              <a:buNone/>
            </a:pPr>
            <a:r>
              <a:rPr b="1" i="0" lang="en-US" sz="200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Çalışan çözüm</a:t>
            </a:r>
            <a:endParaRPr b="0" i="0" sz="2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4645152" y="2304288"/>
            <a:ext cx="2395728" cy="118872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1015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4809744" y="2487168"/>
            <a:ext cx="502920" cy="502920"/>
          </a:xfrm>
          <a:prstGeom prst="roundRect">
            <a:avLst>
              <a:gd fmla="val 9091" name="adj"/>
            </a:avLst>
          </a:prstGeom>
          <a:solidFill>
            <a:srgbClr val="C8102E"/>
          </a:solidFill>
          <a:ln cap="flat" cmpd="sng" w="12700">
            <a:solidFill>
              <a:srgbClr val="C810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" name="Google Shape;5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7760" y="2615184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4"/>
          <p:cNvSpPr/>
          <p:nvPr/>
        </p:nvSpPr>
        <p:spPr>
          <a:xfrm>
            <a:off x="5598137" y="2583225"/>
            <a:ext cx="995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1450"/>
              <a:buFont typeface="Noto Sans"/>
              <a:buNone/>
            </a:pPr>
            <a:r>
              <a:rPr b="1" i="0" lang="en-US" sz="145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3 format</a:t>
            </a:r>
            <a:endParaRPr b="0" i="0" sz="14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7342632" y="2304288"/>
            <a:ext cx="2395728" cy="118872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1015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7507224" y="2487168"/>
            <a:ext cx="502920" cy="502920"/>
          </a:xfrm>
          <a:prstGeom prst="roundRect">
            <a:avLst>
              <a:gd fmla="val 9091" name="adj"/>
            </a:avLst>
          </a:prstGeom>
          <a:solidFill>
            <a:srgbClr val="246B8E"/>
          </a:solidFill>
          <a:ln cap="flat" cmpd="sng" w="12700">
            <a:solidFill>
              <a:srgbClr val="246B8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5240" y="2615184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4"/>
          <p:cNvSpPr/>
          <p:nvPr/>
        </p:nvSpPr>
        <p:spPr>
          <a:xfrm>
            <a:off x="8065025" y="2487225"/>
            <a:ext cx="155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1450"/>
              <a:buFont typeface="Noto Sans"/>
              <a:buNone/>
            </a:pPr>
            <a:r>
              <a:rPr b="1" i="0" lang="en-US" sz="145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2 ingestion yolu</a:t>
            </a:r>
            <a:endParaRPr b="0" i="0" sz="14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4645152" y="3767328"/>
            <a:ext cx="2395728" cy="118872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1015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4809744" y="3950208"/>
            <a:ext cx="502920" cy="502920"/>
          </a:xfrm>
          <a:prstGeom prst="roundRect">
            <a:avLst>
              <a:gd fmla="val 9091" name="adj"/>
            </a:avLst>
          </a:prstGeom>
          <a:solidFill>
            <a:srgbClr val="177A5B"/>
          </a:solidFill>
          <a:ln cap="flat" cmpd="sng" w="12700">
            <a:solidFill>
              <a:srgbClr val="177A5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" name="Google Shape;6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37760" y="4078224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4"/>
          <p:cNvSpPr/>
          <p:nvPr/>
        </p:nvSpPr>
        <p:spPr>
          <a:xfrm>
            <a:off x="5381338" y="4046263"/>
            <a:ext cx="1554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1450"/>
              <a:buFont typeface="Noto Sans"/>
              <a:buNone/>
            </a:pPr>
            <a:r>
              <a:rPr b="1" i="0" lang="en-US" sz="145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Hybrid retrieval</a:t>
            </a:r>
            <a:endParaRPr b="0" i="0" sz="14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5006500" y="4564825"/>
            <a:ext cx="17736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173"/>
              </a:buClr>
              <a:buSzPts val="1080"/>
              <a:buFont typeface="Noto Sans"/>
              <a:buNone/>
            </a:pPr>
            <a:r>
              <a:rPr b="0" i="0" lang="en-US" sz="1080" u="none" cap="none" strike="noStrike">
                <a:solidFill>
                  <a:srgbClr val="526173"/>
                </a:solidFill>
                <a:latin typeface="Noto Sans"/>
                <a:ea typeface="Noto Sans"/>
                <a:cs typeface="Noto Sans"/>
                <a:sym typeface="Noto Sans"/>
              </a:rPr>
              <a:t>Dense + sparse +</a:t>
            </a:r>
            <a:r>
              <a:rPr lang="en-US" sz="1080">
                <a:solidFill>
                  <a:srgbClr val="526173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b="0" i="0" lang="en-US" sz="1080" u="none" cap="none" strike="noStrike">
                <a:solidFill>
                  <a:srgbClr val="526173"/>
                </a:solidFill>
                <a:latin typeface="Noto Sans"/>
                <a:ea typeface="Noto Sans"/>
                <a:cs typeface="Noto Sans"/>
                <a:sym typeface="Noto Sans"/>
              </a:rPr>
              <a:t>reranking</a:t>
            </a:r>
            <a:endParaRPr b="0" i="0" sz="10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7342632" y="3767328"/>
            <a:ext cx="2395728" cy="118872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1015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7507224" y="3950208"/>
            <a:ext cx="502920" cy="502920"/>
          </a:xfrm>
          <a:prstGeom prst="roundRect">
            <a:avLst>
              <a:gd fmla="val 9091" name="adj"/>
            </a:avLst>
          </a:prstGeom>
          <a:solidFill>
            <a:srgbClr val="1A2941"/>
          </a:solidFill>
          <a:ln cap="flat" cmpd="sng" w="12700">
            <a:solidFill>
              <a:srgbClr val="1A294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35240" y="4078224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4"/>
          <p:cNvSpPr/>
          <p:nvPr/>
        </p:nvSpPr>
        <p:spPr>
          <a:xfrm>
            <a:off x="8133517" y="4046208"/>
            <a:ext cx="1417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1450"/>
              <a:buFont typeface="Noto Sans"/>
              <a:buNone/>
            </a:pPr>
            <a:r>
              <a:rPr b="1" i="0" lang="en-US" sz="145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Kaynak güveni</a:t>
            </a:r>
            <a:endParaRPr b="0" i="0" sz="14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10040112" y="2304288"/>
            <a:ext cx="1572768" cy="2651760"/>
          </a:xfrm>
          <a:prstGeom prst="roundRect">
            <a:avLst>
              <a:gd fmla="val 3488" name="adj"/>
            </a:avLst>
          </a:prstGeom>
          <a:solidFill>
            <a:srgbClr val="FBE8EC"/>
          </a:solidFill>
          <a:ln cap="flat" cmpd="sng" w="10150">
            <a:solidFill>
              <a:srgbClr val="F3BD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10268712" y="2633472"/>
            <a:ext cx="1133856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C8102E"/>
                </a:solidFill>
                <a:latin typeface="Noto Sans"/>
                <a:ea typeface="Noto Sans"/>
                <a:cs typeface="Noto Sans"/>
                <a:sym typeface="Noto Sans"/>
              </a:rPr>
              <a:t>POC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C8102E"/>
                </a:solidFill>
                <a:latin typeface="Noto Sans"/>
                <a:ea typeface="Noto Sans"/>
                <a:cs typeface="Noto Sans"/>
                <a:sym typeface="Noto Sans"/>
              </a:rPr>
              <a:t>sonucu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10232136" y="3465576"/>
            <a:ext cx="122529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2100"/>
              <a:buFont typeface="Noto Sans"/>
              <a:buNone/>
            </a:pPr>
            <a:r>
              <a:rPr b="1" i="0" lang="en-US" sz="210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Çalışıyor</a:t>
            </a:r>
            <a:endParaRPr b="0" i="0" sz="2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0232136" y="3886200"/>
            <a:ext cx="1207008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6173"/>
              </a:buClr>
              <a:buSzPts val="1020"/>
              <a:buFont typeface="Noto Sans"/>
              <a:buNone/>
            </a:pPr>
            <a:r>
              <a:rPr b="0" i="0" lang="en-US" sz="1020" u="none" cap="none" strike="noStrike">
                <a:solidFill>
                  <a:srgbClr val="526173"/>
                </a:solidFill>
                <a:latin typeface="Noto Sans"/>
                <a:ea typeface="Noto Sans"/>
                <a:cs typeface="Noto Sans"/>
                <a:sym typeface="Noto Sans"/>
              </a:rPr>
              <a:t>Üretim için kimlik, dayanıklı işler ve gözlemlenebilirlik tamamlanmalı.</a:t>
            </a:r>
            <a:endParaRPr b="0" i="0" sz="10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841248" y="633679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173"/>
              </a:buClr>
              <a:buSzPts val="870"/>
              <a:buFont typeface="Noto Sans"/>
              <a:buNone/>
            </a:pPr>
            <a:r>
              <a:rPr b="1" i="0" lang="en-US" sz="870" u="none" cap="none" strike="noStrike">
                <a:solidFill>
                  <a:srgbClr val="526173"/>
                </a:solidFill>
                <a:latin typeface="Noto Sans"/>
                <a:ea typeface="Noto Sans"/>
                <a:cs typeface="Noto Sans"/>
                <a:sym typeface="Noto Sans"/>
              </a:rPr>
              <a:t>TURKISH AIRLINES  ·  DOCUMENT INTELLIGENCE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11173968" y="633679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900"/>
              <a:buFont typeface="Noto Sans"/>
              <a:buNone/>
            </a:pPr>
            <a:r>
              <a:rPr b="1" i="0" lang="en-US" sz="90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77" name="Google Shape;77;p4" title="thy-log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5975" y="6185900"/>
            <a:ext cx="670568" cy="502926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4"/>
          <p:cNvSpPr/>
          <p:nvPr/>
        </p:nvSpPr>
        <p:spPr>
          <a:xfrm>
            <a:off x="4956213" y="3136400"/>
            <a:ext cx="17736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26173"/>
              </a:buClr>
              <a:buSzPts val="1080"/>
              <a:buFont typeface="Noto Sans"/>
              <a:buNone/>
            </a:pPr>
            <a:r>
              <a:rPr lang="en-US" sz="1080">
                <a:solidFill>
                  <a:srgbClr val="526173"/>
                </a:solidFill>
                <a:latin typeface="Noto Sans"/>
                <a:ea typeface="Noto Sans"/>
                <a:cs typeface="Noto Sans"/>
                <a:sym typeface="Noto Sans"/>
              </a:rPr>
              <a:t>PDF, Word ve PowerPoint</a:t>
            </a:r>
            <a:endParaRPr sz="108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173"/>
              </a:buClr>
              <a:buSzPts val="1080"/>
              <a:buFont typeface="Noto Sans"/>
              <a:buNone/>
            </a:pPr>
            <a:r>
              <a:t/>
            </a:r>
            <a:endParaRPr sz="1080">
              <a:solidFill>
                <a:srgbClr val="52617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7653675" y="3136400"/>
            <a:ext cx="17736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26173"/>
              </a:buClr>
              <a:buSzPts val="1080"/>
              <a:buFont typeface="Noto Sans"/>
              <a:buNone/>
            </a:pPr>
            <a:r>
              <a:rPr lang="en-US" sz="1080">
                <a:solidFill>
                  <a:srgbClr val="526173"/>
                </a:solidFill>
                <a:latin typeface="Noto Sans"/>
                <a:ea typeface="Noto Sans"/>
                <a:cs typeface="Noto Sans"/>
                <a:sym typeface="Noto Sans"/>
              </a:rPr>
              <a:t>Semantic ve Docling fixed</a:t>
            </a:r>
            <a:endParaRPr sz="1080">
              <a:solidFill>
                <a:srgbClr val="52617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173"/>
              </a:buClr>
              <a:buSzPts val="1080"/>
              <a:buFont typeface="Noto Sans"/>
              <a:buNone/>
            </a:pPr>
            <a:r>
              <a:t/>
            </a:r>
            <a:endParaRPr sz="1080">
              <a:solidFill>
                <a:srgbClr val="52617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7447900" y="4564825"/>
            <a:ext cx="2185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26173"/>
              </a:buClr>
              <a:buSzPts val="1080"/>
              <a:buFont typeface="Noto Sans"/>
              <a:buNone/>
            </a:pPr>
            <a:r>
              <a:rPr lang="en-US" sz="1080">
                <a:solidFill>
                  <a:srgbClr val="526173"/>
                </a:solidFill>
                <a:latin typeface="Noto Sans"/>
                <a:ea typeface="Noto Sans"/>
                <a:cs typeface="Noto Sans"/>
                <a:sym typeface="Noto Sans"/>
              </a:rPr>
              <a:t>Citation, grounding ve no-answer</a:t>
            </a:r>
            <a:endParaRPr sz="1080">
              <a:solidFill>
                <a:srgbClr val="52617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/>
          <p:nvPr/>
        </p:nvSpPr>
        <p:spPr>
          <a:xfrm>
            <a:off x="566928" y="329184"/>
            <a:ext cx="2926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C8102E"/>
                </a:solidFill>
                <a:latin typeface="Noto Sans"/>
                <a:ea typeface="Noto Sans"/>
                <a:cs typeface="Noto Sans"/>
                <a:sym typeface="Noto Sans"/>
              </a:rPr>
              <a:t>THY CASE STUDY  /  03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566928" y="713232"/>
            <a:ext cx="106527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2800"/>
              <a:buFont typeface="Noto Sans"/>
              <a:buNone/>
            </a:pPr>
            <a:r>
              <a:rPr b="1" i="0" lang="en-US" sz="280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Sistem mimarisi: tek güven sınırı, iki veri deposu</a:t>
            </a:r>
            <a:endParaRPr b="0" i="0" sz="2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585216" y="1271016"/>
            <a:ext cx="10561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173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526173"/>
                </a:solidFill>
                <a:latin typeface="Noto Sans"/>
                <a:ea typeface="Noto Sans"/>
                <a:cs typeface="Noto Sans"/>
                <a:sym typeface="Noto Sans"/>
              </a:rPr>
              <a:t>Browser iç kullanıcı kimliğini belirlemez; tenant sınırı FastAPI tarafından kurulur.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9" name="Google Shape;89;p5"/>
          <p:cNvSpPr/>
          <p:nvPr/>
        </p:nvSpPr>
        <p:spPr>
          <a:xfrm rot="720000">
            <a:off x="10863072" y="45720"/>
            <a:ext cx="950976" cy="658368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C8102E">
              <a:alpha val="0"/>
            </a:srgbClr>
          </a:solidFill>
          <a:ln cap="flat" cmpd="sng" w="27925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11676888" y="411480"/>
            <a:ext cx="100584" cy="100584"/>
          </a:xfrm>
          <a:prstGeom prst="ellipse">
            <a:avLst/>
          </a:prstGeom>
          <a:solidFill>
            <a:srgbClr val="C8102E"/>
          </a:solidFill>
          <a:ln cap="flat" cmpd="sng" w="12700">
            <a:solidFill>
              <a:srgbClr val="C810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658368" y="2084832"/>
            <a:ext cx="1783200" cy="1371600"/>
          </a:xfrm>
          <a:prstGeom prst="roundRect">
            <a:avLst>
              <a:gd fmla="val 4000" name="adj"/>
            </a:avLst>
          </a:prstGeom>
          <a:solidFill>
            <a:srgbClr val="F4F6F8"/>
          </a:solidFill>
          <a:ln cap="flat" cmpd="sng" w="1015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1362314" y="2304287"/>
            <a:ext cx="86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React 19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804672" y="2798064"/>
            <a:ext cx="14904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173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526173"/>
                </a:solidFill>
                <a:latin typeface="Noto Sans"/>
                <a:ea typeface="Noto Sans"/>
                <a:cs typeface="Noto Sans"/>
                <a:sym typeface="Noto Sans"/>
              </a:rPr>
              <a:t>Chat · ingestion · citations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2907792" y="2084832"/>
            <a:ext cx="1902000" cy="1371600"/>
          </a:xfrm>
          <a:prstGeom prst="roundRect">
            <a:avLst>
              <a:gd fmla="val 4000" name="adj"/>
            </a:avLst>
          </a:prstGeom>
          <a:solidFill>
            <a:srgbClr val="FBE8EC"/>
          </a:solidFill>
          <a:ln cap="flat" cmpd="sng" w="1015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3058650" y="3034058"/>
            <a:ext cx="1609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6173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526173"/>
                </a:solidFill>
                <a:latin typeface="Noto Sans"/>
                <a:ea typeface="Noto Sans"/>
                <a:cs typeface="Noto Sans"/>
                <a:sym typeface="Noto Sans"/>
              </a:rPr>
              <a:t>API · validation · services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5285232" y="2084832"/>
            <a:ext cx="2011680" cy="1371600"/>
          </a:xfrm>
          <a:prstGeom prst="roundRect">
            <a:avLst>
              <a:gd fmla="val 4000" name="adj"/>
            </a:avLst>
          </a:prstGeom>
          <a:solidFill>
            <a:srgbClr val="E3F0F6"/>
          </a:solidFill>
          <a:ln cap="flat" cmpd="sng" w="1015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5742378" y="2701237"/>
            <a:ext cx="109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LangGraph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5422450" y="3034045"/>
            <a:ext cx="1719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6173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526173"/>
                </a:solidFill>
                <a:latin typeface="Noto Sans"/>
                <a:ea typeface="Noto Sans"/>
                <a:cs typeface="Noto Sans"/>
                <a:sym typeface="Noto Sans"/>
              </a:rPr>
              <a:t>Retrieval + answer subgraphs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9217152" y="2084832"/>
            <a:ext cx="2286000" cy="1371600"/>
          </a:xfrm>
          <a:prstGeom prst="roundRect">
            <a:avLst>
              <a:gd fmla="val 4000" name="adj"/>
            </a:avLst>
          </a:prstGeom>
          <a:solidFill>
            <a:srgbClr val="F4F6F8"/>
          </a:solidFill>
          <a:ln cap="flat" cmpd="sng" w="1015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9948950" y="2327225"/>
            <a:ext cx="749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OpenAI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9363400" y="2990008"/>
            <a:ext cx="1993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6173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526173"/>
                </a:solidFill>
                <a:latin typeface="Noto Sans"/>
                <a:ea typeface="Noto Sans"/>
                <a:cs typeface="Noto Sans"/>
                <a:sym typeface="Noto Sans"/>
              </a:rPr>
              <a:t>Responses · embeddings · graders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02" name="Google Shape;102;p5"/>
          <p:cNvCxnSpPr/>
          <p:nvPr/>
        </p:nvCxnSpPr>
        <p:spPr>
          <a:xfrm>
            <a:off x="2532888" y="2770632"/>
            <a:ext cx="283464" cy="0"/>
          </a:xfrm>
          <a:prstGeom prst="straightConnector1">
            <a:avLst/>
          </a:prstGeom>
          <a:noFill/>
          <a:ln cap="flat" cmpd="sng" w="22850">
            <a:solidFill>
              <a:srgbClr val="C8102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3" name="Google Shape;103;p5"/>
          <p:cNvCxnSpPr/>
          <p:nvPr/>
        </p:nvCxnSpPr>
        <p:spPr>
          <a:xfrm>
            <a:off x="4901184" y="2770632"/>
            <a:ext cx="292608" cy="0"/>
          </a:xfrm>
          <a:prstGeom prst="straightConnector1">
            <a:avLst/>
          </a:prstGeom>
          <a:noFill/>
          <a:ln cap="flat" cmpd="sng" w="22850">
            <a:solidFill>
              <a:srgbClr val="C8102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" name="Google Shape;104;p5"/>
          <p:cNvCxnSpPr/>
          <p:nvPr/>
        </p:nvCxnSpPr>
        <p:spPr>
          <a:xfrm>
            <a:off x="7388352" y="2770632"/>
            <a:ext cx="1737360" cy="0"/>
          </a:xfrm>
          <a:prstGeom prst="straightConnector1">
            <a:avLst/>
          </a:prstGeom>
          <a:noFill/>
          <a:ln cap="flat" cmpd="sng" w="19050">
            <a:solidFill>
              <a:srgbClr val="76829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5" name="Google Shape;105;p5"/>
          <p:cNvSpPr/>
          <p:nvPr/>
        </p:nvSpPr>
        <p:spPr>
          <a:xfrm>
            <a:off x="7662672" y="2487168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68294"/>
              </a:buClr>
              <a:buSzPts val="880"/>
              <a:buFont typeface="Noto Sans"/>
              <a:buNone/>
            </a:pPr>
            <a:r>
              <a:rPr b="0" i="0" lang="en-US" sz="880" u="none" cap="none" strike="noStrike">
                <a:solidFill>
                  <a:srgbClr val="768294"/>
                </a:solidFill>
                <a:latin typeface="Noto Sans"/>
                <a:ea typeface="Noto Sans"/>
                <a:cs typeface="Noto Sans"/>
                <a:sym typeface="Noto Sans"/>
              </a:rPr>
              <a:t>async provider I/O</a:t>
            </a:r>
            <a:endParaRPr b="0" i="0" sz="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658368" y="4078224"/>
            <a:ext cx="1783080" cy="1042416"/>
          </a:xfrm>
          <a:prstGeom prst="roundRect">
            <a:avLst>
              <a:gd fmla="val 5263" name="adj"/>
            </a:avLst>
          </a:prstGeom>
          <a:solidFill>
            <a:srgbClr val="FBE8EC"/>
          </a:solidFill>
          <a:ln cap="flat" cmpd="sng" w="10150">
            <a:solidFill>
              <a:srgbClr val="F0B5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832104" y="4315968"/>
            <a:ext cx="512064" cy="512064"/>
          </a:xfrm>
          <a:prstGeom prst="roundRect">
            <a:avLst>
              <a:gd fmla="val 8929" name="adj"/>
            </a:avLst>
          </a:prstGeom>
          <a:solidFill>
            <a:srgbClr val="C8102E"/>
          </a:solidFill>
          <a:ln cap="flat" cmpd="sng" w="12700">
            <a:solidFill>
              <a:srgbClr val="C810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8" name="Google Shape;10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9264" y="445312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5"/>
          <p:cNvSpPr/>
          <p:nvPr/>
        </p:nvSpPr>
        <p:spPr>
          <a:xfrm>
            <a:off x="1481328" y="4242816"/>
            <a:ext cx="7498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220"/>
              <a:buFont typeface="Noto Sans"/>
              <a:buNone/>
            </a:pPr>
            <a:r>
              <a:rPr b="1" i="0" lang="en-US" sz="1220" u="none" cap="none" strike="noStrike">
                <a:solidFill>
                  <a:srgbClr val="C8102E"/>
                </a:solidFill>
                <a:latin typeface="Noto Sans"/>
                <a:ea typeface="Noto Sans"/>
                <a:cs typeface="Noto Sans"/>
                <a:sym typeface="Noto Sans"/>
              </a:rPr>
              <a:t>Tenant boundary</a:t>
            </a:r>
            <a:endParaRPr b="0" i="0" sz="12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1481328" y="4599432"/>
            <a:ext cx="7498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860"/>
              <a:buFont typeface="Noto Sans"/>
              <a:buNone/>
            </a:pPr>
            <a:r>
              <a:rPr b="0" i="0" lang="en-US" sz="86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username →</a:t>
            </a:r>
            <a:endParaRPr b="0" i="0" sz="86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860"/>
              <a:buFont typeface="Noto Sans"/>
              <a:buNone/>
            </a:pPr>
            <a:r>
              <a:rPr b="0" i="0" lang="en-US" sz="86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internal UUID</a:t>
            </a:r>
            <a:endParaRPr b="0" i="0" sz="86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2907792" y="4078224"/>
            <a:ext cx="1901952" cy="1097280"/>
          </a:xfrm>
          <a:prstGeom prst="roundRect">
            <a:avLst>
              <a:gd fmla="val 5000" name="adj"/>
            </a:avLst>
          </a:prstGeom>
          <a:solidFill>
            <a:srgbClr val="F4F6F8"/>
          </a:solidFill>
          <a:ln cap="flat" cmpd="sng" w="1015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3058588" y="4946902"/>
            <a:ext cx="1609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6173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526173"/>
                </a:solidFill>
                <a:latin typeface="Noto Sans"/>
                <a:ea typeface="Noto Sans"/>
                <a:cs typeface="Noto Sans"/>
                <a:sym typeface="Noto Sans"/>
              </a:rPr>
              <a:t>Users · jobs · chat · usage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5285232" y="4078224"/>
            <a:ext cx="2011680" cy="1097280"/>
          </a:xfrm>
          <a:prstGeom prst="roundRect">
            <a:avLst>
              <a:gd fmla="val 5000" name="adj"/>
            </a:avLst>
          </a:prstGeom>
          <a:solidFill>
            <a:srgbClr val="E7F4EF"/>
          </a:solidFill>
          <a:ln cap="flat" cmpd="sng" w="1015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6067101" y="4302313"/>
            <a:ext cx="749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Qdrant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5431575" y="4892053"/>
            <a:ext cx="1719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6173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526173"/>
                </a:solidFill>
                <a:latin typeface="Noto Sans"/>
                <a:ea typeface="Noto Sans"/>
                <a:cs typeface="Noto Sans"/>
                <a:sym typeface="Noto Sans"/>
              </a:rPr>
              <a:t>semantic + fixed collections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16" name="Google Shape;116;p5"/>
          <p:cNvCxnSpPr/>
          <p:nvPr/>
        </p:nvCxnSpPr>
        <p:spPr>
          <a:xfrm>
            <a:off x="3858768" y="3547872"/>
            <a:ext cx="0" cy="438912"/>
          </a:xfrm>
          <a:prstGeom prst="straightConnector1">
            <a:avLst/>
          </a:prstGeom>
          <a:noFill/>
          <a:ln cap="flat" cmpd="sng" w="19050">
            <a:solidFill>
              <a:srgbClr val="52617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7" name="Google Shape;117;p5"/>
          <p:cNvCxnSpPr/>
          <p:nvPr/>
        </p:nvCxnSpPr>
        <p:spPr>
          <a:xfrm>
            <a:off x="6291072" y="3547872"/>
            <a:ext cx="0" cy="438912"/>
          </a:xfrm>
          <a:prstGeom prst="straightConnector1">
            <a:avLst/>
          </a:prstGeom>
          <a:noFill/>
          <a:ln cap="flat" cmpd="sng" w="19050">
            <a:solidFill>
              <a:srgbClr val="52617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8" name="Google Shape;118;p5"/>
          <p:cNvSpPr/>
          <p:nvPr/>
        </p:nvSpPr>
        <p:spPr>
          <a:xfrm>
            <a:off x="7735824" y="4078224"/>
            <a:ext cx="3767328" cy="1042416"/>
          </a:xfrm>
          <a:prstGeom prst="roundRect">
            <a:avLst>
              <a:gd fmla="val 5263" name="adj"/>
            </a:avLst>
          </a:prstGeom>
          <a:solidFill>
            <a:srgbClr val="F4F6F8"/>
          </a:solidFill>
          <a:ln cap="flat" cmpd="sng" w="1015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7936992" y="4315968"/>
            <a:ext cx="512064" cy="512064"/>
          </a:xfrm>
          <a:prstGeom prst="roundRect">
            <a:avLst>
              <a:gd fmla="val 8929" name="adj"/>
            </a:avLst>
          </a:prstGeom>
          <a:solidFill>
            <a:srgbClr val="246B8E"/>
          </a:solidFill>
          <a:ln cap="flat" cmpd="sng" w="12700">
            <a:solidFill>
              <a:srgbClr val="246B8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0" name="Google Shape;12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74152" y="445312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/>
          <p:nvPr/>
        </p:nvSpPr>
        <p:spPr>
          <a:xfrm>
            <a:off x="8758517" y="4311491"/>
            <a:ext cx="1508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1280"/>
              <a:buFont typeface="Noto Sans"/>
              <a:buNone/>
            </a:pPr>
            <a:r>
              <a:rPr b="1" i="0" lang="en-US" sz="128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Operasyon verisi</a:t>
            </a:r>
            <a:endParaRPr b="0" i="0" sz="12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8516125" y="4599425"/>
            <a:ext cx="1993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6173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526173"/>
                </a:solidFill>
                <a:latin typeface="Noto Sans"/>
                <a:ea typeface="Noto Sans"/>
                <a:cs typeface="Noto Sans"/>
                <a:sym typeface="Noto Sans"/>
              </a:rPr>
              <a:t>Structured log · usage · model snapshot · pricing version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23" name="Google Shape;123;p5"/>
          <p:cNvCxnSpPr/>
          <p:nvPr/>
        </p:nvCxnSpPr>
        <p:spPr>
          <a:xfrm>
            <a:off x="7388352" y="4599432"/>
            <a:ext cx="256032" cy="0"/>
          </a:xfrm>
          <a:prstGeom prst="straightConnector1">
            <a:avLst/>
          </a:prstGeom>
          <a:noFill/>
          <a:ln cap="flat" cmpd="sng" w="15225">
            <a:solidFill>
              <a:srgbClr val="768294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124" name="Google Shape;124;p5"/>
          <p:cNvSpPr/>
          <p:nvPr/>
        </p:nvSpPr>
        <p:spPr>
          <a:xfrm>
            <a:off x="658368" y="5513832"/>
            <a:ext cx="1060704" cy="310896"/>
          </a:xfrm>
          <a:prstGeom prst="roundRect">
            <a:avLst>
              <a:gd fmla="val 23529" name="adj"/>
            </a:avLst>
          </a:prstGeom>
          <a:solidFill>
            <a:srgbClr val="111B2E"/>
          </a:solidFill>
          <a:ln cap="flat" cmpd="sng" w="9525">
            <a:solidFill>
              <a:srgbClr val="111B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731520" y="55412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ASYNC I/O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1874520" y="5513832"/>
            <a:ext cx="8412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173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526173"/>
                </a:solidFill>
                <a:latin typeface="Noto Sans"/>
                <a:ea typeface="Noto Sans"/>
                <a:cs typeface="Noto Sans"/>
                <a:sym typeface="Noto Sans"/>
              </a:rPr>
              <a:t>Chat oturumları paralel; aynı oturumdaki mesaj sırası kilitli. Ingestion sınırları ayrı ayrı ayarlanabilir.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841248" y="633679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173"/>
              </a:buClr>
              <a:buSzPts val="870"/>
              <a:buFont typeface="Noto Sans"/>
              <a:buNone/>
            </a:pPr>
            <a:r>
              <a:rPr b="1" i="0" lang="en-US" sz="870" u="none" cap="none" strike="noStrike">
                <a:solidFill>
                  <a:srgbClr val="526173"/>
                </a:solidFill>
                <a:latin typeface="Noto Sans"/>
                <a:ea typeface="Noto Sans"/>
                <a:cs typeface="Noto Sans"/>
                <a:sym typeface="Noto Sans"/>
              </a:rPr>
              <a:t>TURKISH AIRLINES  ·  DOCUMENT INTELLIGENCE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11173968" y="633679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900"/>
              <a:buFont typeface="Noto Sans"/>
              <a:buNone/>
            </a:pPr>
            <a:r>
              <a:rPr b="1" i="0" lang="en-US" sz="90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29" name="Google Shape;129;p5" title="thy-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5975" y="6185900"/>
            <a:ext cx="670568" cy="502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4675" y="2212436"/>
            <a:ext cx="493776" cy="43975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"/>
          <p:cNvSpPr/>
          <p:nvPr/>
        </p:nvSpPr>
        <p:spPr>
          <a:xfrm>
            <a:off x="3609125" y="2221467"/>
            <a:ext cx="9876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Async FastAPI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32" name="Google Shape;132;p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10800000">
            <a:off x="3176337" y="2211662"/>
            <a:ext cx="505350" cy="5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07038" y="2203709"/>
            <a:ext cx="858409" cy="43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439350" y="223572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488441" y="4152000"/>
            <a:ext cx="749800" cy="74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486425" y="4154438"/>
            <a:ext cx="493775" cy="569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/>
          <p:nvPr/>
        </p:nvSpPr>
        <p:spPr>
          <a:xfrm>
            <a:off x="566928" y="329184"/>
            <a:ext cx="2926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C8102E"/>
                </a:solidFill>
                <a:latin typeface="Noto Sans"/>
                <a:ea typeface="Noto Sans"/>
                <a:cs typeface="Noto Sans"/>
                <a:sym typeface="Noto Sans"/>
              </a:rPr>
              <a:t>THY CASE STUDY  /  04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566928" y="713232"/>
            <a:ext cx="106527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2800"/>
              <a:buFont typeface="Noto Sans"/>
              <a:buNone/>
            </a:pPr>
            <a:r>
              <a:rPr b="1" i="0" lang="en-US" sz="280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Kullandığım teknoloji yığını ve async sınırlar</a:t>
            </a:r>
            <a:endParaRPr b="0" i="0" sz="2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585216" y="1271016"/>
            <a:ext cx="10561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173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526173"/>
                </a:solidFill>
                <a:latin typeface="Noto Sans"/>
                <a:ea typeface="Noto Sans"/>
                <a:cs typeface="Noto Sans"/>
                <a:sym typeface="Noto Sans"/>
              </a:rPr>
              <a:t>Bileşenleri kullanım amacına göre ayırdım; model çağrılarını ve kalıcı veriyi birbirine karıştırmadım.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5" name="Google Shape;145;p6"/>
          <p:cNvSpPr/>
          <p:nvPr/>
        </p:nvSpPr>
        <p:spPr>
          <a:xfrm rot="720000">
            <a:off x="10863072" y="45720"/>
            <a:ext cx="950976" cy="658368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C8102E">
              <a:alpha val="0"/>
            </a:srgbClr>
          </a:solidFill>
          <a:ln cap="flat" cmpd="sng" w="27925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11676888" y="411480"/>
            <a:ext cx="100584" cy="100584"/>
          </a:xfrm>
          <a:prstGeom prst="ellipse">
            <a:avLst/>
          </a:prstGeom>
          <a:solidFill>
            <a:srgbClr val="C8102E"/>
          </a:solidFill>
          <a:ln cap="flat" cmpd="sng" w="12700">
            <a:solidFill>
              <a:srgbClr val="C810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640080" y="1810512"/>
            <a:ext cx="10908792" cy="658368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015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786384" y="1892808"/>
            <a:ext cx="493776" cy="493776"/>
          </a:xfrm>
          <a:prstGeom prst="roundRect">
            <a:avLst>
              <a:gd fmla="val 9259" name="adj"/>
            </a:avLst>
          </a:prstGeom>
          <a:solidFill>
            <a:srgbClr val="C8102E"/>
          </a:solidFill>
          <a:ln cap="flat" cmpd="sng" w="12700">
            <a:solidFill>
              <a:srgbClr val="C810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02082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6"/>
          <p:cNvSpPr/>
          <p:nvPr/>
        </p:nvSpPr>
        <p:spPr>
          <a:xfrm>
            <a:off x="1412815" y="2002578"/>
            <a:ext cx="115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1220"/>
              <a:buFont typeface="Noto Sans"/>
              <a:buNone/>
            </a:pPr>
            <a:r>
              <a:rPr b="1" i="0" lang="en-US" sz="122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Experience</a:t>
            </a:r>
            <a:endParaRPr b="0" i="0" sz="12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2697480" y="1975104"/>
            <a:ext cx="804672" cy="310896"/>
          </a:xfrm>
          <a:prstGeom prst="roundRect">
            <a:avLst>
              <a:gd fmla="val 23529" name="adj"/>
            </a:avLst>
          </a:prstGeom>
          <a:solidFill>
            <a:srgbClr val="E9EDF2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2770632" y="2002536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React 19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3621024" y="1975104"/>
            <a:ext cx="905256" cy="310896"/>
          </a:xfrm>
          <a:prstGeom prst="roundRect">
            <a:avLst>
              <a:gd fmla="val 23529" name="adj"/>
            </a:avLst>
          </a:prstGeom>
          <a:solidFill>
            <a:srgbClr val="F4F6F8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3694176" y="2002536"/>
            <a:ext cx="7589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TypeScript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4645152" y="1975104"/>
            <a:ext cx="731520" cy="310896"/>
          </a:xfrm>
          <a:prstGeom prst="roundRect">
            <a:avLst>
              <a:gd fmla="val 23529" name="adj"/>
            </a:avLst>
          </a:prstGeom>
          <a:solidFill>
            <a:srgbClr val="E9EDF2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4718304" y="2002536"/>
            <a:ext cx="58521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Vite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5495544" y="1975104"/>
            <a:ext cx="1106424" cy="310896"/>
          </a:xfrm>
          <a:prstGeom prst="roundRect">
            <a:avLst>
              <a:gd fmla="val 23529" name="adj"/>
            </a:avLst>
          </a:prstGeom>
          <a:solidFill>
            <a:srgbClr val="F4F6F8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5568696" y="2002536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TanStack Query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6720840" y="1975104"/>
            <a:ext cx="754380" cy="310896"/>
          </a:xfrm>
          <a:prstGeom prst="roundRect">
            <a:avLst>
              <a:gd fmla="val 23529" name="adj"/>
            </a:avLst>
          </a:prstGeom>
          <a:solidFill>
            <a:srgbClr val="E9EDF2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6793992" y="2002536"/>
            <a:ext cx="60807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Zustand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7594092" y="1975104"/>
            <a:ext cx="731520" cy="310896"/>
          </a:xfrm>
          <a:prstGeom prst="roundRect">
            <a:avLst>
              <a:gd fmla="val 23529" name="adj"/>
            </a:avLst>
          </a:prstGeom>
          <a:solidFill>
            <a:srgbClr val="F4F6F8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7667244" y="2002536"/>
            <a:ext cx="58521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KaTeX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640080" y="2697480"/>
            <a:ext cx="10908792" cy="658368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015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786384" y="2779776"/>
            <a:ext cx="493776" cy="493776"/>
          </a:xfrm>
          <a:prstGeom prst="roundRect">
            <a:avLst>
              <a:gd fmla="val 9259" name="adj"/>
            </a:avLst>
          </a:prstGeom>
          <a:solidFill>
            <a:srgbClr val="1A2941"/>
          </a:solidFill>
          <a:ln cap="flat" cmpd="sng" w="12700">
            <a:solidFill>
              <a:srgbClr val="1A294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5" name="Google Shape;16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290779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6"/>
          <p:cNvSpPr/>
          <p:nvPr/>
        </p:nvSpPr>
        <p:spPr>
          <a:xfrm>
            <a:off x="1412802" y="2889571"/>
            <a:ext cx="115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1220"/>
              <a:buFont typeface="Noto Sans"/>
              <a:buNone/>
            </a:pPr>
            <a:r>
              <a:rPr b="1" i="0" lang="en-US" sz="122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Application</a:t>
            </a:r>
            <a:endParaRPr b="0" i="0" sz="12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2697480" y="2862072"/>
            <a:ext cx="754380" cy="310896"/>
          </a:xfrm>
          <a:prstGeom prst="roundRect">
            <a:avLst>
              <a:gd fmla="val 23529" name="adj"/>
            </a:avLst>
          </a:prstGeom>
          <a:solidFill>
            <a:srgbClr val="E9EDF2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2770632" y="2889504"/>
            <a:ext cx="60807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FastAPI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3570732" y="2862072"/>
            <a:ext cx="955548" cy="310896"/>
          </a:xfrm>
          <a:prstGeom prst="roundRect">
            <a:avLst>
              <a:gd fmla="val 23529" name="adj"/>
            </a:avLst>
          </a:prstGeom>
          <a:solidFill>
            <a:srgbClr val="F4F6F8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3643884" y="2889504"/>
            <a:ext cx="8092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Pydantic v2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4645152" y="2862072"/>
            <a:ext cx="1207008" cy="310896"/>
          </a:xfrm>
          <a:prstGeom prst="roundRect">
            <a:avLst>
              <a:gd fmla="val 23529" name="adj"/>
            </a:avLst>
          </a:prstGeom>
          <a:solidFill>
            <a:srgbClr val="E9EDF2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4718304" y="2889504"/>
            <a:ext cx="106070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SQLAlchemy async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5971032" y="2862072"/>
            <a:ext cx="754380" cy="310896"/>
          </a:xfrm>
          <a:prstGeom prst="roundRect">
            <a:avLst>
              <a:gd fmla="val 23529" name="adj"/>
            </a:avLst>
          </a:prstGeom>
          <a:solidFill>
            <a:srgbClr val="F4F6F8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6044184" y="2889504"/>
            <a:ext cx="60807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Alembic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6844284" y="2862072"/>
            <a:ext cx="731520" cy="310896"/>
          </a:xfrm>
          <a:prstGeom prst="roundRect">
            <a:avLst>
              <a:gd fmla="val 23529" name="adj"/>
            </a:avLst>
          </a:prstGeom>
          <a:solidFill>
            <a:srgbClr val="E9EDF2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6917436" y="2889504"/>
            <a:ext cx="58521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Nginx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640080" y="3584448"/>
            <a:ext cx="10908792" cy="658368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015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786384" y="3666744"/>
            <a:ext cx="493776" cy="493776"/>
          </a:xfrm>
          <a:prstGeom prst="roundRect">
            <a:avLst>
              <a:gd fmla="val 9259" name="adj"/>
            </a:avLst>
          </a:prstGeom>
          <a:solidFill>
            <a:srgbClr val="246B8E"/>
          </a:solidFill>
          <a:ln cap="flat" cmpd="sng" w="12700">
            <a:solidFill>
              <a:srgbClr val="246B8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9" name="Google Shape;17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0" y="379476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6"/>
          <p:cNvSpPr/>
          <p:nvPr/>
        </p:nvSpPr>
        <p:spPr>
          <a:xfrm>
            <a:off x="1412802" y="3776539"/>
            <a:ext cx="115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1220"/>
              <a:buFont typeface="Noto Sans"/>
              <a:buNone/>
            </a:pPr>
            <a:r>
              <a:rPr b="1" i="0" lang="en-US" sz="122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AI / Retrieval</a:t>
            </a:r>
            <a:endParaRPr b="0" i="0" sz="12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2697480" y="3749040"/>
            <a:ext cx="854964" cy="310896"/>
          </a:xfrm>
          <a:prstGeom prst="roundRect">
            <a:avLst>
              <a:gd fmla="val 23529" name="adj"/>
            </a:avLst>
          </a:prstGeom>
          <a:solidFill>
            <a:srgbClr val="E9EDF2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2770632" y="3776472"/>
            <a:ext cx="7086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LangGraph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3671316" y="3749040"/>
            <a:ext cx="1207008" cy="310896"/>
          </a:xfrm>
          <a:prstGeom prst="roundRect">
            <a:avLst>
              <a:gd fmla="val 23529" name="adj"/>
            </a:avLst>
          </a:prstGeom>
          <a:solidFill>
            <a:srgbClr val="F4F6F8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3744468" y="3776472"/>
            <a:ext cx="106070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OpenAI Responses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4997196" y="3749040"/>
            <a:ext cx="1257300" cy="310896"/>
          </a:xfrm>
          <a:prstGeom prst="roundRect">
            <a:avLst>
              <a:gd fmla="val 23529" name="adj"/>
            </a:avLst>
          </a:prstGeom>
          <a:solidFill>
            <a:srgbClr val="E9EDF2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5070348" y="3776472"/>
            <a:ext cx="111099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OpenAI Embeddings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6373368" y="3749040"/>
            <a:ext cx="731520" cy="310896"/>
          </a:xfrm>
          <a:prstGeom prst="roundRect">
            <a:avLst>
              <a:gd fmla="val 23529" name="adj"/>
            </a:avLst>
          </a:prstGeom>
          <a:solidFill>
            <a:srgbClr val="F4F6F8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6446520" y="3776472"/>
            <a:ext cx="58521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Qdrant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7223760" y="3749040"/>
            <a:ext cx="1307592" cy="310896"/>
          </a:xfrm>
          <a:prstGeom prst="roundRect">
            <a:avLst>
              <a:gd fmla="val 23529" name="adj"/>
            </a:avLst>
          </a:prstGeom>
          <a:solidFill>
            <a:srgbClr val="E9EDF2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7296912" y="3776472"/>
            <a:ext cx="11612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Stable-hash sparse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8650224" y="3749040"/>
            <a:ext cx="905256" cy="310896"/>
          </a:xfrm>
          <a:prstGeom prst="roundRect">
            <a:avLst>
              <a:gd fmla="val 23529" name="adj"/>
            </a:avLst>
          </a:prstGeom>
          <a:solidFill>
            <a:srgbClr val="F4F6F8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8723376" y="3776472"/>
            <a:ext cx="7589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BM25-ready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640080" y="4471416"/>
            <a:ext cx="10908792" cy="658368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015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786384" y="4553712"/>
            <a:ext cx="493776" cy="493776"/>
          </a:xfrm>
          <a:prstGeom prst="roundRect">
            <a:avLst>
              <a:gd fmla="val 9259" name="adj"/>
            </a:avLst>
          </a:prstGeom>
          <a:solidFill>
            <a:srgbClr val="177A5B"/>
          </a:solidFill>
          <a:ln cap="flat" cmpd="sng" w="12700">
            <a:solidFill>
              <a:srgbClr val="177A5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5" name="Google Shape;19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468172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6"/>
          <p:cNvSpPr/>
          <p:nvPr/>
        </p:nvSpPr>
        <p:spPr>
          <a:xfrm>
            <a:off x="1412740" y="4663432"/>
            <a:ext cx="115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1220"/>
              <a:buFont typeface="Noto Sans"/>
              <a:buNone/>
            </a:pPr>
            <a:r>
              <a:rPr b="1" i="0" lang="en-US" sz="122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Document AI</a:t>
            </a:r>
            <a:endParaRPr b="0" i="0" sz="12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2697480" y="4636008"/>
            <a:ext cx="754380" cy="310896"/>
          </a:xfrm>
          <a:prstGeom prst="roundRect">
            <a:avLst>
              <a:gd fmla="val 23529" name="adj"/>
            </a:avLst>
          </a:prstGeom>
          <a:solidFill>
            <a:srgbClr val="E9EDF2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2770632" y="4663440"/>
            <a:ext cx="60807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Docling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3570732" y="4636008"/>
            <a:ext cx="754380" cy="310896"/>
          </a:xfrm>
          <a:prstGeom prst="roundRect">
            <a:avLst>
              <a:gd fmla="val 23529" name="adj"/>
            </a:avLst>
          </a:prstGeom>
          <a:solidFill>
            <a:srgbClr val="F4F6F8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3643884" y="4663440"/>
            <a:ext cx="60807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PyMuPDF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4443984" y="4636008"/>
            <a:ext cx="955548" cy="310896"/>
          </a:xfrm>
          <a:prstGeom prst="roundRect">
            <a:avLst>
              <a:gd fmla="val 23529" name="adj"/>
            </a:avLst>
          </a:prstGeom>
          <a:solidFill>
            <a:srgbClr val="E9EDF2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4517136" y="4663440"/>
            <a:ext cx="8092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LibreOffice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5518404" y="4636008"/>
            <a:ext cx="804672" cy="310896"/>
          </a:xfrm>
          <a:prstGeom prst="roundRect">
            <a:avLst>
              <a:gd fmla="val 23529" name="adj"/>
            </a:avLst>
          </a:prstGeom>
          <a:solidFill>
            <a:srgbClr val="F4F6F8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5591556" y="4663440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RapidOCR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6441948" y="4636008"/>
            <a:ext cx="955548" cy="310896"/>
          </a:xfrm>
          <a:prstGeom prst="roundRect">
            <a:avLst>
              <a:gd fmla="val 23529" name="adj"/>
            </a:avLst>
          </a:prstGeom>
          <a:solidFill>
            <a:srgbClr val="E9EDF2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6515100" y="4663440"/>
            <a:ext cx="8092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python-docx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7516368" y="4636008"/>
            <a:ext cx="955548" cy="310896"/>
          </a:xfrm>
          <a:prstGeom prst="roundRect">
            <a:avLst>
              <a:gd fmla="val 23529" name="adj"/>
            </a:avLst>
          </a:prstGeom>
          <a:solidFill>
            <a:srgbClr val="F4F6F8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7589520" y="4663440"/>
            <a:ext cx="8092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python-pptx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640080" y="5358384"/>
            <a:ext cx="10908792" cy="658368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015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786384" y="5440680"/>
            <a:ext cx="493776" cy="493776"/>
          </a:xfrm>
          <a:prstGeom prst="roundRect">
            <a:avLst>
              <a:gd fmla="val 9259" name="adj"/>
            </a:avLst>
          </a:prstGeom>
          <a:solidFill>
            <a:srgbClr val="2673B8"/>
          </a:solidFill>
          <a:ln cap="flat" cmpd="sng" w="12700">
            <a:solidFill>
              <a:srgbClr val="2673B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1" name="Google Shape;211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556869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6"/>
          <p:cNvSpPr/>
          <p:nvPr/>
        </p:nvSpPr>
        <p:spPr>
          <a:xfrm>
            <a:off x="1412802" y="5500125"/>
            <a:ext cx="115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1220"/>
              <a:buFont typeface="Noto Sans"/>
              <a:buNone/>
            </a:pPr>
            <a:r>
              <a:rPr b="1" i="0" lang="en-US" sz="122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Runtime</a:t>
            </a:r>
            <a:endParaRPr b="0" i="0" sz="12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2697480" y="5522976"/>
            <a:ext cx="1056132" cy="310896"/>
          </a:xfrm>
          <a:prstGeom prst="roundRect">
            <a:avLst>
              <a:gd fmla="val 23529" name="adj"/>
            </a:avLst>
          </a:prstGeom>
          <a:solidFill>
            <a:srgbClr val="E9EDF2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2770632" y="5550408"/>
            <a:ext cx="9098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PostgreSQL 16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3872484" y="5522976"/>
            <a:ext cx="1106424" cy="310896"/>
          </a:xfrm>
          <a:prstGeom prst="roundRect">
            <a:avLst>
              <a:gd fmla="val 23529" name="adj"/>
            </a:avLst>
          </a:prstGeom>
          <a:solidFill>
            <a:srgbClr val="F4F6F8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3945636" y="555040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Docker Compose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5097780" y="5522976"/>
            <a:ext cx="1156716" cy="310896"/>
          </a:xfrm>
          <a:prstGeom prst="roundRect">
            <a:avLst>
              <a:gd fmla="val 23529" name="adj"/>
            </a:avLst>
          </a:prstGeom>
          <a:solidFill>
            <a:srgbClr val="E9EDF2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5170932" y="5550408"/>
            <a:ext cx="10104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Structured logs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6373368" y="5522976"/>
            <a:ext cx="1257300" cy="310896"/>
          </a:xfrm>
          <a:prstGeom prst="roundRect">
            <a:avLst>
              <a:gd fmla="val 23529" name="adj"/>
            </a:avLst>
          </a:prstGeom>
          <a:solidFill>
            <a:srgbClr val="F4F6F8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6446520" y="5550408"/>
            <a:ext cx="111099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Versioned pricing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841248" y="633679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173"/>
              </a:buClr>
              <a:buSzPts val="870"/>
              <a:buFont typeface="Noto Sans"/>
              <a:buNone/>
            </a:pPr>
            <a:r>
              <a:rPr b="1" i="0" lang="en-US" sz="870" u="none" cap="none" strike="noStrike">
                <a:solidFill>
                  <a:srgbClr val="526173"/>
                </a:solidFill>
                <a:latin typeface="Noto Sans"/>
                <a:ea typeface="Noto Sans"/>
                <a:cs typeface="Noto Sans"/>
                <a:sym typeface="Noto Sans"/>
              </a:rPr>
              <a:t>TURKISH AIRLINES  ·  DOCUMENT INTELLIGENCE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11173968" y="633679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900"/>
              <a:buFont typeface="Noto Sans"/>
              <a:buNone/>
            </a:pPr>
            <a:r>
              <a:rPr b="1" i="0" lang="en-US" sz="90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223" name="Google Shape;223;p6" title="thy-log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5975" y="6185900"/>
            <a:ext cx="670568" cy="502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7"/>
          <p:cNvSpPr/>
          <p:nvPr/>
        </p:nvSpPr>
        <p:spPr>
          <a:xfrm>
            <a:off x="566928" y="329184"/>
            <a:ext cx="2926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C8102E"/>
                </a:solidFill>
                <a:latin typeface="Noto Sans"/>
                <a:ea typeface="Noto Sans"/>
                <a:cs typeface="Noto Sans"/>
                <a:sym typeface="Noto Sans"/>
              </a:rPr>
              <a:t>THY CASE STUDY  /  05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566928" y="713232"/>
            <a:ext cx="106527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2800"/>
              <a:buFont typeface="Noto Sans"/>
              <a:buNone/>
            </a:pPr>
            <a:r>
              <a:rPr b="1" i="0" lang="en-US" sz="280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Ingestion ve OCR: her sayfayı eksiksiz işle, doğru yolu seç</a:t>
            </a:r>
            <a:endParaRPr b="0" i="0" sz="2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585216" y="1271016"/>
            <a:ext cx="10561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173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526173"/>
                </a:solidFill>
                <a:latin typeface="Noto Sans"/>
                <a:ea typeface="Noto Sans"/>
                <a:cs typeface="Noto Sans"/>
                <a:sym typeface="Noto Sans"/>
              </a:rPr>
              <a:t>İki ingestion yolu birbirinden bağımsızdır ve ayrı Qdrant collection’larına yazar.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2" name="Google Shape;232;p7"/>
          <p:cNvSpPr/>
          <p:nvPr/>
        </p:nvSpPr>
        <p:spPr>
          <a:xfrm rot="720000">
            <a:off x="10863072" y="45720"/>
            <a:ext cx="950976" cy="658368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C8102E">
              <a:alpha val="0"/>
            </a:srgbClr>
          </a:solidFill>
          <a:ln cap="flat" cmpd="sng" w="27925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11676888" y="411480"/>
            <a:ext cx="100584" cy="100584"/>
          </a:xfrm>
          <a:prstGeom prst="ellipse">
            <a:avLst/>
          </a:prstGeom>
          <a:solidFill>
            <a:srgbClr val="C8102E"/>
          </a:solidFill>
          <a:ln cap="flat" cmpd="sng" w="12700">
            <a:solidFill>
              <a:srgbClr val="C810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594360" y="1783080"/>
            <a:ext cx="1901952" cy="4169664"/>
          </a:xfrm>
          <a:prstGeom prst="roundRect">
            <a:avLst>
              <a:gd fmla="val 2885" name="adj"/>
            </a:avLst>
          </a:prstGeom>
          <a:solidFill>
            <a:srgbClr val="F4F6F8"/>
          </a:solidFill>
          <a:ln cap="flat" cmpd="sng" w="1015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841248" y="1993392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Kaynaklar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descr="preencoded.png" id="236" name="Google Shape;23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6112" y="261518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7"/>
          <p:cNvSpPr/>
          <p:nvPr/>
        </p:nvSpPr>
        <p:spPr>
          <a:xfrm>
            <a:off x="1435608" y="2642616"/>
            <a:ext cx="7132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PDF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descr="preencoded.png" id="238" name="Google Shape;23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6112" y="342900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7"/>
          <p:cNvSpPr/>
          <p:nvPr/>
        </p:nvSpPr>
        <p:spPr>
          <a:xfrm>
            <a:off x="1435608" y="3456432"/>
            <a:ext cx="7132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DOCX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descr="preencoded.png" id="240" name="Google Shape;24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6112" y="424281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7"/>
          <p:cNvSpPr/>
          <p:nvPr/>
        </p:nvSpPr>
        <p:spPr>
          <a:xfrm>
            <a:off x="1435608" y="4270248"/>
            <a:ext cx="7132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PPTX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850392" y="5020056"/>
            <a:ext cx="132588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173"/>
              </a:buClr>
              <a:buSzPts val="1040"/>
              <a:buFont typeface="Noto Sans"/>
              <a:buNone/>
            </a:pPr>
            <a:r>
              <a:rPr b="0" i="0" lang="en-US" sz="1040" u="none" cap="none" strike="noStrike">
                <a:solidFill>
                  <a:srgbClr val="526173"/>
                </a:solidFill>
                <a:latin typeface="Noto Sans"/>
                <a:ea typeface="Noto Sans"/>
                <a:cs typeface="Noto Sans"/>
                <a:sym typeface="Noto Sans"/>
              </a:rPr>
              <a:t>PDF doğrudan; Office dosyaları LibreOffice ile PDF’e çevrilir.</a:t>
            </a:r>
            <a:endParaRPr b="0" i="0" sz="10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43" name="Google Shape;243;p7"/>
          <p:cNvCxnSpPr/>
          <p:nvPr/>
        </p:nvCxnSpPr>
        <p:spPr>
          <a:xfrm>
            <a:off x="2587752" y="3831336"/>
            <a:ext cx="420624" cy="0"/>
          </a:xfrm>
          <a:prstGeom prst="straightConnector1">
            <a:avLst/>
          </a:prstGeom>
          <a:noFill/>
          <a:ln cap="flat" cmpd="sng" w="27925">
            <a:solidFill>
              <a:srgbClr val="C8102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4" name="Google Shape;244;p7"/>
          <p:cNvSpPr/>
          <p:nvPr/>
        </p:nvSpPr>
        <p:spPr>
          <a:xfrm>
            <a:off x="3090672" y="2066544"/>
            <a:ext cx="2048256" cy="3611880"/>
          </a:xfrm>
          <a:prstGeom prst="roundRect">
            <a:avLst>
              <a:gd fmla="val 2679" name="adj"/>
            </a:avLst>
          </a:prstGeom>
          <a:solidFill>
            <a:srgbClr val="FBE8EC"/>
          </a:solidFill>
          <a:ln cap="flat" cmpd="sng" w="10150">
            <a:solidFill>
              <a:srgbClr val="F0B5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7"/>
          <p:cNvSpPr/>
          <p:nvPr/>
        </p:nvSpPr>
        <p:spPr>
          <a:xfrm>
            <a:off x="3808467" y="2450584"/>
            <a:ext cx="603600" cy="603600"/>
          </a:xfrm>
          <a:prstGeom prst="roundRect">
            <a:avLst>
              <a:gd fmla="val 7576" name="adj"/>
            </a:avLst>
          </a:prstGeom>
          <a:solidFill>
            <a:srgbClr val="C8102E"/>
          </a:solidFill>
          <a:ln cap="flat" cmpd="sng" w="12700">
            <a:solidFill>
              <a:srgbClr val="C810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6" name="Google Shape;246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63915" y="260603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7"/>
          <p:cNvSpPr/>
          <p:nvPr/>
        </p:nvSpPr>
        <p:spPr>
          <a:xfrm>
            <a:off x="3355848" y="3182112"/>
            <a:ext cx="15087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C8102E"/>
                </a:solidFill>
                <a:latin typeface="Noto Sans"/>
                <a:ea typeface="Noto Sans"/>
                <a:cs typeface="Noto Sans"/>
                <a:sym typeface="Noto Sans"/>
              </a:rPr>
              <a:t>Sayfa / slayt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C8102E"/>
                </a:solidFill>
                <a:latin typeface="Noto Sans"/>
                <a:ea typeface="Noto Sans"/>
                <a:cs typeface="Noto Sans"/>
                <a:sym typeface="Noto Sans"/>
              </a:rPr>
              <a:t>görüntüsü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3392424" y="4050792"/>
            <a:ext cx="1444752" cy="1042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1060"/>
              <a:buFont typeface="Noto Sans"/>
              <a:buNone/>
            </a:pPr>
            <a:r>
              <a:rPr b="0" i="0" lang="en-US" sz="106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200 DPI render</a:t>
            </a:r>
            <a:endParaRPr b="0" i="0" sz="106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1060"/>
              <a:buFont typeface="Noto Sans"/>
              <a:buNone/>
            </a:pPr>
            <a:r>
              <a:rPr b="0" i="0" lang="en-US" sz="106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Tam sayfa kapsama kontrolü</a:t>
            </a:r>
            <a:endParaRPr b="0" i="0" sz="106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1060"/>
              <a:buFont typeface="Noto Sans"/>
              <a:buNone/>
            </a:pPr>
            <a:r>
              <a:rPr b="0" i="0" lang="en-US" sz="106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Sayfa bazlı progress</a:t>
            </a:r>
            <a:endParaRPr b="0" i="0" sz="106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49" name="Google Shape;249;p7"/>
          <p:cNvCxnSpPr/>
          <p:nvPr/>
        </p:nvCxnSpPr>
        <p:spPr>
          <a:xfrm>
            <a:off x="5239512" y="3831336"/>
            <a:ext cx="246888" cy="0"/>
          </a:xfrm>
          <a:prstGeom prst="straightConnector1">
            <a:avLst/>
          </a:prstGeom>
          <a:noFill/>
          <a:ln cap="flat" cmpd="sng" w="27925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0" name="Google Shape;250;p7"/>
          <p:cNvCxnSpPr/>
          <p:nvPr/>
        </p:nvCxnSpPr>
        <p:spPr>
          <a:xfrm>
            <a:off x="5486400" y="2871216"/>
            <a:ext cx="0" cy="2103120"/>
          </a:xfrm>
          <a:prstGeom prst="straightConnector1">
            <a:avLst/>
          </a:prstGeom>
          <a:noFill/>
          <a:ln cap="flat" cmpd="sng" w="203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1" name="Google Shape;251;p7"/>
          <p:cNvCxnSpPr/>
          <p:nvPr/>
        </p:nvCxnSpPr>
        <p:spPr>
          <a:xfrm>
            <a:off x="5486400" y="2871216"/>
            <a:ext cx="182880" cy="0"/>
          </a:xfrm>
          <a:prstGeom prst="straightConnector1">
            <a:avLst/>
          </a:prstGeom>
          <a:noFill/>
          <a:ln cap="flat" cmpd="sng" w="20300">
            <a:solidFill>
              <a:srgbClr val="C8102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2" name="Google Shape;252;p7"/>
          <p:cNvCxnSpPr/>
          <p:nvPr/>
        </p:nvCxnSpPr>
        <p:spPr>
          <a:xfrm>
            <a:off x="5486400" y="4974336"/>
            <a:ext cx="182880" cy="0"/>
          </a:xfrm>
          <a:prstGeom prst="straightConnector1">
            <a:avLst/>
          </a:prstGeom>
          <a:noFill/>
          <a:ln cap="flat" cmpd="sng" w="20300">
            <a:solidFill>
              <a:srgbClr val="C8102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3" name="Google Shape;253;p7"/>
          <p:cNvSpPr/>
          <p:nvPr/>
        </p:nvSpPr>
        <p:spPr>
          <a:xfrm>
            <a:off x="5742432" y="1783080"/>
            <a:ext cx="2542032" cy="1938528"/>
          </a:xfrm>
          <a:prstGeom prst="roundRect">
            <a:avLst>
              <a:gd fmla="val 2830" name="adj"/>
            </a:avLst>
          </a:prstGeom>
          <a:solidFill>
            <a:srgbClr val="E3F0F6"/>
          </a:solidFill>
          <a:ln cap="flat" cmpd="sng" w="10150">
            <a:solidFill>
              <a:srgbClr val="BFD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5989320" y="2020824"/>
            <a:ext cx="521208" cy="521208"/>
          </a:xfrm>
          <a:prstGeom prst="roundRect">
            <a:avLst>
              <a:gd fmla="val 8772" name="adj"/>
            </a:avLst>
          </a:prstGeom>
          <a:solidFill>
            <a:srgbClr val="246B8E"/>
          </a:solidFill>
          <a:ln cap="flat" cmpd="sng" w="12700">
            <a:solidFill>
              <a:srgbClr val="246B8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5" name="Google Shape;255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26480" y="2157984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7"/>
          <p:cNvSpPr/>
          <p:nvPr/>
        </p:nvSpPr>
        <p:spPr>
          <a:xfrm>
            <a:off x="6675125" y="1975099"/>
            <a:ext cx="13443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6B8E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46B8E"/>
                </a:solidFill>
                <a:latin typeface="Noto Sans"/>
                <a:ea typeface="Noto Sans"/>
                <a:cs typeface="Noto Sans"/>
                <a:sym typeface="Noto Sans"/>
              </a:rPr>
              <a:t>Semantic image chunking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5989320" y="2642616"/>
            <a:ext cx="20116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1020"/>
              <a:buFont typeface="Noto Sans"/>
              <a:buNone/>
            </a:pPr>
            <a:r>
              <a:rPr b="0" i="0" lang="en-US" sz="102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Her sayfa bağımsız analiz edilir. Başlık, tablo, denklem, kod ve görseller anlam bütünlüğüyle ayrılır.</a:t>
            </a:r>
            <a:endParaRPr b="0" i="0" sz="10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5742432" y="4005072"/>
            <a:ext cx="2542032" cy="1947672"/>
          </a:xfrm>
          <a:prstGeom prst="roundRect">
            <a:avLst>
              <a:gd fmla="val 2817" name="adj"/>
            </a:avLst>
          </a:prstGeom>
          <a:solidFill>
            <a:srgbClr val="E7F4EF"/>
          </a:solidFill>
          <a:ln cap="flat" cmpd="sng" w="10150">
            <a:solidFill>
              <a:srgbClr val="BEDC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7"/>
          <p:cNvSpPr/>
          <p:nvPr/>
        </p:nvSpPr>
        <p:spPr>
          <a:xfrm>
            <a:off x="5989320" y="4251960"/>
            <a:ext cx="521208" cy="521208"/>
          </a:xfrm>
          <a:prstGeom prst="roundRect">
            <a:avLst>
              <a:gd fmla="val 8772" name="adj"/>
            </a:avLst>
          </a:prstGeom>
          <a:solidFill>
            <a:srgbClr val="177A5B"/>
          </a:solidFill>
          <a:ln cap="flat" cmpd="sng" w="12700">
            <a:solidFill>
              <a:srgbClr val="177A5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0" name="Google Shape;260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26480" y="4389120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7"/>
          <p:cNvSpPr/>
          <p:nvPr/>
        </p:nvSpPr>
        <p:spPr>
          <a:xfrm>
            <a:off x="6675125" y="4197101"/>
            <a:ext cx="13443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7A5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177A5B"/>
                </a:solidFill>
                <a:latin typeface="Noto Sans"/>
                <a:ea typeface="Noto Sans"/>
                <a:cs typeface="Noto Sans"/>
                <a:sym typeface="Noto Sans"/>
              </a:rPr>
              <a:t>Docling fixed chunking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5989320" y="4873752"/>
            <a:ext cx="201168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1020"/>
              <a:buFont typeface="Noto Sans"/>
              <a:buNone/>
            </a:pPr>
            <a:r>
              <a:rPr b="0" i="0" lang="en-US" sz="102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Docling parse + RapidOCR. Sayfa sınırı korunur; 800 token pencere ve 120 token overlap uygulanır.</a:t>
            </a:r>
            <a:endParaRPr b="0" i="0" sz="10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63" name="Google Shape;263;p7"/>
          <p:cNvCxnSpPr/>
          <p:nvPr/>
        </p:nvCxnSpPr>
        <p:spPr>
          <a:xfrm>
            <a:off x="8394192" y="2862072"/>
            <a:ext cx="475488" cy="0"/>
          </a:xfrm>
          <a:prstGeom prst="straightConnector1">
            <a:avLst/>
          </a:prstGeom>
          <a:noFill/>
          <a:ln cap="flat" cmpd="sng" w="21575">
            <a:solidFill>
              <a:srgbClr val="52617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4" name="Google Shape;264;p7"/>
          <p:cNvCxnSpPr/>
          <p:nvPr/>
        </p:nvCxnSpPr>
        <p:spPr>
          <a:xfrm>
            <a:off x="8394192" y="5020056"/>
            <a:ext cx="475488" cy="0"/>
          </a:xfrm>
          <a:prstGeom prst="straightConnector1">
            <a:avLst/>
          </a:prstGeom>
          <a:noFill/>
          <a:ln cap="flat" cmpd="sng" w="21575">
            <a:solidFill>
              <a:srgbClr val="52617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5" name="Google Shape;265;p7"/>
          <p:cNvSpPr/>
          <p:nvPr/>
        </p:nvSpPr>
        <p:spPr>
          <a:xfrm>
            <a:off x="8979408" y="2221992"/>
            <a:ext cx="2578608" cy="3227832"/>
          </a:xfrm>
          <a:prstGeom prst="roundRect">
            <a:avLst>
              <a:gd fmla="val 2128" name="adj"/>
            </a:avLst>
          </a:prstGeom>
          <a:solidFill>
            <a:srgbClr val="111B2E"/>
          </a:solidFill>
          <a:ln cap="flat" cmpd="sng" w="10150">
            <a:solidFill>
              <a:srgbClr val="111B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7"/>
          <p:cNvSpPr/>
          <p:nvPr/>
        </p:nvSpPr>
        <p:spPr>
          <a:xfrm>
            <a:off x="9971540" y="2491750"/>
            <a:ext cx="576000" cy="576000"/>
          </a:xfrm>
          <a:prstGeom prst="roundRect">
            <a:avLst>
              <a:gd fmla="val 7937" name="adj"/>
            </a:avLst>
          </a:prstGeom>
          <a:solidFill>
            <a:srgbClr val="C8102E"/>
          </a:solidFill>
          <a:ln cap="flat" cmpd="sng" w="12700">
            <a:solidFill>
              <a:srgbClr val="C810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7" name="Google Shape;267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117844" y="2638054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7"/>
          <p:cNvSpPr/>
          <p:nvPr/>
        </p:nvSpPr>
        <p:spPr>
          <a:xfrm>
            <a:off x="9235450" y="3182100"/>
            <a:ext cx="2048400" cy="9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OpenAI embeddings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+ </a:t>
            </a:r>
            <a:endParaRPr b="1" i="0" sz="1700" u="none" cap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Qdrant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9244578" y="4135374"/>
            <a:ext cx="20484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DFEA"/>
              </a:buClr>
              <a:buSzPts val="1150"/>
              <a:buFont typeface="Noto Sans"/>
              <a:buNone/>
            </a:pPr>
            <a:r>
              <a:rPr b="0" i="0" lang="en-US" sz="1150" u="none" cap="none" strike="noStrike">
                <a:solidFill>
                  <a:srgbClr val="D7DFEA"/>
                </a:solidFill>
                <a:latin typeface="Noto Sans"/>
                <a:ea typeface="Noto Sans"/>
                <a:cs typeface="Noto Sans"/>
                <a:sym typeface="Noto Sans"/>
              </a:rPr>
              <a:t>semantic_chunks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DFEA"/>
              </a:buClr>
              <a:buSzPts val="1150"/>
              <a:buFont typeface="Noto Sans"/>
              <a:buNone/>
            </a:pPr>
            <a:r>
              <a:rPr b="0" i="0" lang="en-US" sz="1150" u="none" cap="none" strike="noStrike">
                <a:solidFill>
                  <a:srgbClr val="D7DFEA"/>
                </a:solidFill>
                <a:latin typeface="Noto Sans"/>
                <a:ea typeface="Noto Sans"/>
                <a:cs typeface="Noto Sans"/>
                <a:sym typeface="Noto Sans"/>
              </a:rPr>
              <a:t>docling_fixed_chunks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9308592" y="4855464"/>
            <a:ext cx="1901952" cy="310896"/>
          </a:xfrm>
          <a:prstGeom prst="roundRect">
            <a:avLst>
              <a:gd fmla="val 23529" name="adj"/>
            </a:avLst>
          </a:prstGeom>
          <a:solidFill>
            <a:srgbClr val="C8102E"/>
          </a:solidFill>
          <a:ln cap="flat" cmpd="sng" w="9525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7"/>
          <p:cNvSpPr/>
          <p:nvPr/>
        </p:nvSpPr>
        <p:spPr>
          <a:xfrm>
            <a:off x="9381744" y="4882896"/>
            <a:ext cx="17556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READ-BACK VERIFIED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896112" y="5980176"/>
            <a:ext cx="1225296" cy="310896"/>
          </a:xfrm>
          <a:prstGeom prst="roundRect">
            <a:avLst>
              <a:gd fmla="val 23529" name="adj"/>
            </a:avLst>
          </a:prstGeom>
          <a:solidFill>
            <a:srgbClr val="111B2E"/>
          </a:solidFill>
          <a:ln cap="flat" cmpd="sng" w="9525">
            <a:solidFill>
              <a:srgbClr val="111B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969264" y="6007608"/>
            <a:ext cx="10789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4 ASYNC JOB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2264994" y="6021332"/>
            <a:ext cx="8394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173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526173"/>
                </a:solidFill>
                <a:latin typeface="Noto Sans"/>
                <a:ea typeface="Noto Sans"/>
                <a:cs typeface="Noto Sans"/>
                <a:sym typeface="Noto Sans"/>
              </a:rPr>
              <a:t>Backend varsayılanı: 4 eşzamanlı ingestion işi · sayfa ve batch limitleri ayrıca kontrol edilir.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841248" y="633679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173"/>
              </a:buClr>
              <a:buSzPts val="870"/>
              <a:buFont typeface="Noto Sans"/>
              <a:buNone/>
            </a:pPr>
            <a:r>
              <a:rPr b="1" i="0" lang="en-US" sz="870" u="none" cap="none" strike="noStrike">
                <a:solidFill>
                  <a:srgbClr val="526173"/>
                </a:solidFill>
                <a:latin typeface="Noto Sans"/>
                <a:ea typeface="Noto Sans"/>
                <a:cs typeface="Noto Sans"/>
                <a:sym typeface="Noto Sans"/>
              </a:rPr>
              <a:t>TURKISH AIRLINES  ·  DOCUMENT INTELLIGENCE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11173968" y="633679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900"/>
              <a:buFont typeface="Noto Sans"/>
              <a:buNone/>
            </a:pPr>
            <a:r>
              <a:rPr b="1" i="0" lang="en-US" sz="90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277" name="Google Shape;277;p7" title="thy-logo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45975" y="6185900"/>
            <a:ext cx="670568" cy="502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8"/>
          <p:cNvSpPr/>
          <p:nvPr/>
        </p:nvSpPr>
        <p:spPr>
          <a:xfrm>
            <a:off x="566928" y="329184"/>
            <a:ext cx="2926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C8102E"/>
                </a:solidFill>
                <a:latin typeface="Noto Sans"/>
                <a:ea typeface="Noto Sans"/>
                <a:cs typeface="Noto Sans"/>
                <a:sym typeface="Noto Sans"/>
              </a:rPr>
              <a:t>THY CASE STUDY  /  06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566928" y="713232"/>
            <a:ext cx="106527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2800"/>
              <a:buFont typeface="Noto Sans"/>
              <a:buNone/>
            </a:pPr>
            <a:r>
              <a:rPr b="1" i="0" lang="en-US" sz="280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RAG akışı: yüksek recall, kontrollü context</a:t>
            </a:r>
            <a:endParaRPr b="0" i="0" sz="2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585216" y="1271016"/>
            <a:ext cx="10561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173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526173"/>
                </a:solidFill>
                <a:latin typeface="Noto Sans"/>
                <a:ea typeface="Noto Sans"/>
                <a:cs typeface="Noto Sans"/>
                <a:sym typeface="Noto Sans"/>
              </a:rPr>
              <a:t>Retrieval recall’ı geniş aday havuzuyla; answer accuracy’yi reranking ve grounding kapılarıyla koruyorum.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6" name="Google Shape;286;p8"/>
          <p:cNvSpPr/>
          <p:nvPr/>
        </p:nvSpPr>
        <p:spPr>
          <a:xfrm rot="720000">
            <a:off x="10863072" y="45720"/>
            <a:ext cx="950976" cy="658368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C8102E">
              <a:alpha val="0"/>
            </a:srgbClr>
          </a:solidFill>
          <a:ln cap="flat" cmpd="sng" w="27925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8"/>
          <p:cNvSpPr/>
          <p:nvPr/>
        </p:nvSpPr>
        <p:spPr>
          <a:xfrm>
            <a:off x="11676888" y="411480"/>
            <a:ext cx="100584" cy="100584"/>
          </a:xfrm>
          <a:prstGeom prst="ellipse">
            <a:avLst/>
          </a:prstGeom>
          <a:solidFill>
            <a:srgbClr val="C8102E"/>
          </a:solidFill>
          <a:ln cap="flat" cmpd="sng" w="12700">
            <a:solidFill>
              <a:srgbClr val="C810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8"/>
          <p:cNvSpPr/>
          <p:nvPr/>
        </p:nvSpPr>
        <p:spPr>
          <a:xfrm>
            <a:off x="594360" y="1993392"/>
            <a:ext cx="1444752" cy="1901952"/>
          </a:xfrm>
          <a:prstGeom prst="roundRect">
            <a:avLst>
              <a:gd fmla="val 3797" name="adj"/>
            </a:avLst>
          </a:prstGeom>
          <a:solidFill>
            <a:srgbClr val="FFFFFF"/>
          </a:solidFill>
          <a:ln cap="flat" cmpd="sng" w="1015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1033272" y="2249424"/>
            <a:ext cx="566928" cy="566928"/>
          </a:xfrm>
          <a:prstGeom prst="roundRect">
            <a:avLst>
              <a:gd fmla="val 8065" name="adj"/>
            </a:avLst>
          </a:prstGeom>
          <a:solidFill>
            <a:srgbClr val="1A2941"/>
          </a:solidFill>
          <a:ln cap="flat" cmpd="sng" w="12700">
            <a:solidFill>
              <a:srgbClr val="1A294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0" name="Google Shape;29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9576" y="23957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8"/>
          <p:cNvSpPr/>
          <p:nvPr/>
        </p:nvSpPr>
        <p:spPr>
          <a:xfrm>
            <a:off x="704088" y="2962656"/>
            <a:ext cx="12252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Sorgu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722376" y="3291840"/>
            <a:ext cx="1188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6173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526173"/>
                </a:solidFill>
                <a:latin typeface="Noto Sans"/>
                <a:ea typeface="Noto Sans"/>
                <a:cs typeface="Noto Sans"/>
                <a:sym typeface="Noto Sans"/>
              </a:rPr>
              <a:t>Verbatim + gerekirse tek rewrite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93" name="Google Shape;293;p8"/>
          <p:cNvCxnSpPr/>
          <p:nvPr/>
        </p:nvCxnSpPr>
        <p:spPr>
          <a:xfrm>
            <a:off x="2112264" y="2907792"/>
            <a:ext cx="201168" cy="0"/>
          </a:xfrm>
          <a:prstGeom prst="straightConnector1">
            <a:avLst/>
          </a:prstGeom>
          <a:noFill/>
          <a:ln cap="flat" cmpd="sng" w="22850">
            <a:solidFill>
              <a:srgbClr val="C8102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4" name="Google Shape;294;p8"/>
          <p:cNvSpPr/>
          <p:nvPr/>
        </p:nvSpPr>
        <p:spPr>
          <a:xfrm>
            <a:off x="2386584" y="1993392"/>
            <a:ext cx="1627632" cy="1901952"/>
          </a:xfrm>
          <a:prstGeom prst="roundRect">
            <a:avLst>
              <a:gd fmla="val 3371" name="adj"/>
            </a:avLst>
          </a:prstGeom>
          <a:solidFill>
            <a:srgbClr val="FFFFFF"/>
          </a:solidFill>
          <a:ln cap="flat" cmpd="sng" w="1015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"/>
          <p:cNvSpPr/>
          <p:nvPr/>
        </p:nvSpPr>
        <p:spPr>
          <a:xfrm>
            <a:off x="2916936" y="2249424"/>
            <a:ext cx="566928" cy="566928"/>
          </a:xfrm>
          <a:prstGeom prst="roundRect">
            <a:avLst>
              <a:gd fmla="val 8065" name="adj"/>
            </a:avLst>
          </a:prstGeom>
          <a:solidFill>
            <a:srgbClr val="246B8E"/>
          </a:solidFill>
          <a:ln cap="flat" cmpd="sng" w="12700">
            <a:solidFill>
              <a:srgbClr val="246B8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6" name="Google Shape;29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63240" y="23957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8"/>
          <p:cNvSpPr/>
          <p:nvPr/>
        </p:nvSpPr>
        <p:spPr>
          <a:xfrm>
            <a:off x="2496312" y="2962656"/>
            <a:ext cx="140817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Hybrid search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2514600" y="3291840"/>
            <a:ext cx="1371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6173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526173"/>
                </a:solidFill>
                <a:latin typeface="Noto Sans"/>
                <a:ea typeface="Noto Sans"/>
                <a:cs typeface="Noto Sans"/>
                <a:sym typeface="Noto Sans"/>
              </a:rPr>
              <a:t>Dense + sparse, iki collection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99" name="Google Shape;299;p8"/>
          <p:cNvCxnSpPr/>
          <p:nvPr/>
        </p:nvCxnSpPr>
        <p:spPr>
          <a:xfrm>
            <a:off x="4087368" y="2907792"/>
            <a:ext cx="192024" cy="0"/>
          </a:xfrm>
          <a:prstGeom prst="straightConnector1">
            <a:avLst/>
          </a:prstGeom>
          <a:noFill/>
          <a:ln cap="flat" cmpd="sng" w="22850">
            <a:solidFill>
              <a:srgbClr val="C8102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0" name="Google Shape;300;p8"/>
          <p:cNvSpPr/>
          <p:nvPr/>
        </p:nvSpPr>
        <p:spPr>
          <a:xfrm>
            <a:off x="4352544" y="1993392"/>
            <a:ext cx="1572768" cy="1901952"/>
          </a:xfrm>
          <a:prstGeom prst="roundRect">
            <a:avLst>
              <a:gd fmla="val 3488" name="adj"/>
            </a:avLst>
          </a:prstGeom>
          <a:solidFill>
            <a:srgbClr val="FFFFFF"/>
          </a:solidFill>
          <a:ln cap="flat" cmpd="sng" w="1015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8"/>
          <p:cNvSpPr/>
          <p:nvPr/>
        </p:nvSpPr>
        <p:spPr>
          <a:xfrm>
            <a:off x="4855464" y="2249424"/>
            <a:ext cx="566928" cy="566928"/>
          </a:xfrm>
          <a:prstGeom prst="roundRect">
            <a:avLst>
              <a:gd fmla="val 8065" name="adj"/>
            </a:avLst>
          </a:prstGeom>
          <a:solidFill>
            <a:srgbClr val="6366A8"/>
          </a:solidFill>
          <a:ln cap="flat" cmpd="sng" w="12700">
            <a:solidFill>
              <a:srgbClr val="6366A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2" name="Google Shape;30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01768" y="23957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8"/>
          <p:cNvSpPr/>
          <p:nvPr/>
        </p:nvSpPr>
        <p:spPr>
          <a:xfrm>
            <a:off x="4462272" y="2962656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Fusion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4480560" y="3291840"/>
            <a:ext cx="1316736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6173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526173"/>
                </a:solidFill>
                <a:latin typeface="Noto Sans"/>
                <a:ea typeface="Noto Sans"/>
                <a:cs typeface="Noto Sans"/>
                <a:sym typeface="Noto Sans"/>
              </a:rPr>
              <a:t>Balanced union + weighted RRF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05" name="Google Shape;305;p8"/>
          <p:cNvCxnSpPr/>
          <p:nvPr/>
        </p:nvCxnSpPr>
        <p:spPr>
          <a:xfrm>
            <a:off x="5998464" y="2907792"/>
            <a:ext cx="201168" cy="0"/>
          </a:xfrm>
          <a:prstGeom prst="straightConnector1">
            <a:avLst/>
          </a:prstGeom>
          <a:noFill/>
          <a:ln cap="flat" cmpd="sng" w="22850">
            <a:solidFill>
              <a:srgbClr val="C8102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6" name="Google Shape;306;p8"/>
          <p:cNvSpPr/>
          <p:nvPr/>
        </p:nvSpPr>
        <p:spPr>
          <a:xfrm>
            <a:off x="6272784" y="1993392"/>
            <a:ext cx="1627632" cy="1901952"/>
          </a:xfrm>
          <a:prstGeom prst="roundRect">
            <a:avLst>
              <a:gd fmla="val 3371" name="adj"/>
            </a:avLst>
          </a:prstGeom>
          <a:solidFill>
            <a:srgbClr val="FFFFFF"/>
          </a:solidFill>
          <a:ln cap="flat" cmpd="sng" w="1015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8"/>
          <p:cNvSpPr/>
          <p:nvPr/>
        </p:nvSpPr>
        <p:spPr>
          <a:xfrm>
            <a:off x="6803136" y="2249424"/>
            <a:ext cx="566928" cy="566928"/>
          </a:xfrm>
          <a:prstGeom prst="roundRect">
            <a:avLst>
              <a:gd fmla="val 8065" name="adj"/>
            </a:avLst>
          </a:prstGeom>
          <a:solidFill>
            <a:srgbClr val="C8102E"/>
          </a:solidFill>
          <a:ln cap="flat" cmpd="sng" w="12700">
            <a:solidFill>
              <a:srgbClr val="C810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8" name="Google Shape;308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49440" y="23957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8"/>
          <p:cNvSpPr/>
          <p:nvPr/>
        </p:nvSpPr>
        <p:spPr>
          <a:xfrm>
            <a:off x="6382512" y="2962656"/>
            <a:ext cx="140817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Reranker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6400800" y="3291840"/>
            <a:ext cx="1371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6173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526173"/>
                </a:solidFill>
                <a:latin typeface="Noto Sans"/>
                <a:ea typeface="Noto Sans"/>
                <a:cs typeface="Noto Sans"/>
                <a:sym typeface="Noto Sans"/>
              </a:rPr>
              <a:t>OpenAI structured relevance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11" name="Google Shape;311;p8"/>
          <p:cNvCxnSpPr/>
          <p:nvPr/>
        </p:nvCxnSpPr>
        <p:spPr>
          <a:xfrm>
            <a:off x="7973568" y="2907792"/>
            <a:ext cx="201168" cy="0"/>
          </a:xfrm>
          <a:prstGeom prst="straightConnector1">
            <a:avLst/>
          </a:prstGeom>
          <a:noFill/>
          <a:ln cap="flat" cmpd="sng" w="22850">
            <a:solidFill>
              <a:srgbClr val="C8102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2" name="Google Shape;312;p8"/>
          <p:cNvSpPr/>
          <p:nvPr/>
        </p:nvSpPr>
        <p:spPr>
          <a:xfrm>
            <a:off x="8247888" y="1993392"/>
            <a:ext cx="1627632" cy="1901952"/>
          </a:xfrm>
          <a:prstGeom prst="roundRect">
            <a:avLst>
              <a:gd fmla="val 3371" name="adj"/>
            </a:avLst>
          </a:prstGeom>
          <a:solidFill>
            <a:srgbClr val="FFFFFF"/>
          </a:solidFill>
          <a:ln cap="flat" cmpd="sng" w="1015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8"/>
          <p:cNvSpPr/>
          <p:nvPr/>
        </p:nvSpPr>
        <p:spPr>
          <a:xfrm>
            <a:off x="8778240" y="2249424"/>
            <a:ext cx="566928" cy="566928"/>
          </a:xfrm>
          <a:prstGeom prst="roundRect">
            <a:avLst>
              <a:gd fmla="val 8065" name="adj"/>
            </a:avLst>
          </a:prstGeom>
          <a:solidFill>
            <a:srgbClr val="177A5B"/>
          </a:solidFill>
          <a:ln cap="flat" cmpd="sng" w="12700">
            <a:solidFill>
              <a:srgbClr val="177A5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4" name="Google Shape;314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24544" y="23957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8"/>
          <p:cNvSpPr/>
          <p:nvPr/>
        </p:nvSpPr>
        <p:spPr>
          <a:xfrm>
            <a:off x="8357616" y="2962656"/>
            <a:ext cx="140817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Context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8375904" y="3291840"/>
            <a:ext cx="1371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6173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526173"/>
                </a:solidFill>
                <a:latin typeface="Noto Sans"/>
                <a:ea typeface="Noto Sans"/>
                <a:cs typeface="Noto Sans"/>
                <a:sym typeface="Noto Sans"/>
              </a:rPr>
              <a:t>Yetkili ve doğrudan destekleyen kanıt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17" name="Google Shape;317;p8"/>
          <p:cNvCxnSpPr/>
          <p:nvPr/>
        </p:nvCxnSpPr>
        <p:spPr>
          <a:xfrm>
            <a:off x="9948672" y="2907792"/>
            <a:ext cx="201168" cy="0"/>
          </a:xfrm>
          <a:prstGeom prst="straightConnector1">
            <a:avLst/>
          </a:prstGeom>
          <a:noFill/>
          <a:ln cap="flat" cmpd="sng" w="22850">
            <a:solidFill>
              <a:srgbClr val="C8102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8" name="Google Shape;318;p8"/>
          <p:cNvSpPr/>
          <p:nvPr/>
        </p:nvSpPr>
        <p:spPr>
          <a:xfrm>
            <a:off x="10222992" y="1993392"/>
            <a:ext cx="1371600" cy="1901952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015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8"/>
          <p:cNvSpPr/>
          <p:nvPr/>
        </p:nvSpPr>
        <p:spPr>
          <a:xfrm>
            <a:off x="10625328" y="2249424"/>
            <a:ext cx="566928" cy="566928"/>
          </a:xfrm>
          <a:prstGeom prst="roundRect">
            <a:avLst>
              <a:gd fmla="val 8065" name="adj"/>
            </a:avLst>
          </a:prstGeom>
          <a:solidFill>
            <a:srgbClr val="111B2E"/>
          </a:solidFill>
          <a:ln cap="flat" cmpd="sng" w="12700">
            <a:solidFill>
              <a:srgbClr val="111B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0" name="Google Shape;320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771632" y="23957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8"/>
          <p:cNvSpPr/>
          <p:nvPr/>
        </p:nvSpPr>
        <p:spPr>
          <a:xfrm>
            <a:off x="10332720" y="2962656"/>
            <a:ext cx="11521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Cevap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10351008" y="3291840"/>
            <a:ext cx="11155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6173"/>
              </a:buClr>
              <a:buSzPts val="910"/>
              <a:buFont typeface="Noto Sans"/>
              <a:buNone/>
            </a:pPr>
            <a:r>
              <a:rPr b="0" i="0" lang="en-US" sz="910" u="none" cap="none" strike="noStrike">
                <a:solidFill>
                  <a:srgbClr val="526173"/>
                </a:solidFill>
                <a:latin typeface="Noto Sans"/>
                <a:ea typeface="Noto Sans"/>
                <a:cs typeface="Noto Sans"/>
                <a:sym typeface="Noto Sans"/>
              </a:rPr>
              <a:t>Grounded + citation veya no-answer</a:t>
            </a:r>
            <a:endParaRPr b="0" i="0" sz="9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603504" y="4416552"/>
            <a:ext cx="3447288" cy="1152144"/>
          </a:xfrm>
          <a:prstGeom prst="roundRect">
            <a:avLst>
              <a:gd fmla="val 4762" name="adj"/>
            </a:avLst>
          </a:prstGeom>
          <a:solidFill>
            <a:srgbClr val="FBE8EC"/>
          </a:solidFill>
          <a:ln cap="flat" cmpd="sng" w="10150">
            <a:solidFill>
              <a:srgbClr val="F0B5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8"/>
          <p:cNvSpPr/>
          <p:nvPr/>
        </p:nvSpPr>
        <p:spPr>
          <a:xfrm>
            <a:off x="850392" y="4626864"/>
            <a:ext cx="658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C8102E"/>
                </a:solidFill>
                <a:latin typeface="Noto Sans"/>
                <a:ea typeface="Noto Sans"/>
                <a:cs typeface="Noto Sans"/>
                <a:sym typeface="Noto Sans"/>
              </a:rPr>
              <a:t>Recall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850392" y="4928616"/>
            <a:ext cx="2889504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1060"/>
              <a:buFont typeface="Noto Sans"/>
              <a:buNone/>
            </a:pPr>
            <a:r>
              <a:rPr b="0" i="0" lang="en-US" sz="106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Tek sorgu normaldir; yalnız referanslı follow-up için ikinci varyant açılır.</a:t>
            </a:r>
            <a:endParaRPr b="0" i="0" sz="106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6" name="Google Shape;326;p8"/>
          <p:cNvSpPr/>
          <p:nvPr/>
        </p:nvSpPr>
        <p:spPr>
          <a:xfrm>
            <a:off x="4361688" y="4416552"/>
            <a:ext cx="3447288" cy="1152144"/>
          </a:xfrm>
          <a:prstGeom prst="roundRect">
            <a:avLst>
              <a:gd fmla="val 4762" name="adj"/>
            </a:avLst>
          </a:prstGeom>
          <a:solidFill>
            <a:srgbClr val="E7F4EF"/>
          </a:solidFill>
          <a:ln cap="flat" cmpd="sng" w="10150">
            <a:solidFill>
              <a:srgbClr val="BEDC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8"/>
          <p:cNvSpPr/>
          <p:nvPr/>
        </p:nvSpPr>
        <p:spPr>
          <a:xfrm>
            <a:off x="4608575" y="4626875"/>
            <a:ext cx="96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7A5B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177A5B"/>
                </a:solidFill>
                <a:latin typeface="Noto Sans"/>
                <a:ea typeface="Noto Sans"/>
                <a:cs typeface="Noto Sans"/>
                <a:sym typeface="Noto Sans"/>
              </a:rPr>
              <a:t>Accura</a:t>
            </a:r>
            <a:r>
              <a:rPr b="1" lang="en-US">
                <a:solidFill>
                  <a:srgbClr val="177A5B"/>
                </a:solidFill>
                <a:latin typeface="Noto Sans"/>
                <a:ea typeface="Noto Sans"/>
                <a:cs typeface="Noto Sans"/>
                <a:sym typeface="Noto Sans"/>
              </a:rPr>
              <a:t>c</a:t>
            </a:r>
            <a:r>
              <a:rPr b="1" i="0" lang="en-US" sz="1400" u="none" cap="none" strike="noStrike">
                <a:solidFill>
                  <a:srgbClr val="177A5B"/>
                </a:solidFill>
                <a:latin typeface="Noto Sans"/>
                <a:ea typeface="Noto Sans"/>
                <a:cs typeface="Noto Sans"/>
                <a:sym typeface="Noto Sans"/>
              </a:rPr>
              <a:t>y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8" name="Google Shape;328;p8"/>
          <p:cNvSpPr/>
          <p:nvPr/>
        </p:nvSpPr>
        <p:spPr>
          <a:xfrm>
            <a:off x="4608576" y="4928616"/>
            <a:ext cx="2871216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1060"/>
              <a:buFont typeface="Noto Sans"/>
              <a:buNone/>
            </a:pPr>
            <a:r>
              <a:rPr b="0" i="0" lang="en-US" sz="106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Reranker yalnız yetkili adayları görür; eşik altı kanıt answer context’ine girmez.</a:t>
            </a:r>
            <a:endParaRPr b="0" i="0" sz="106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8119872" y="4416552"/>
            <a:ext cx="3474720" cy="1152144"/>
          </a:xfrm>
          <a:prstGeom prst="roundRect">
            <a:avLst>
              <a:gd fmla="val 4762" name="adj"/>
            </a:avLst>
          </a:prstGeom>
          <a:solidFill>
            <a:srgbClr val="E3F0F6"/>
          </a:solidFill>
          <a:ln cap="flat" cmpd="sng" w="10150">
            <a:solidFill>
              <a:srgbClr val="BFD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8"/>
          <p:cNvSpPr/>
          <p:nvPr/>
        </p:nvSpPr>
        <p:spPr>
          <a:xfrm>
            <a:off x="8366760" y="4626864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6B8E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46B8E"/>
                </a:solidFill>
                <a:latin typeface="Noto Sans"/>
                <a:ea typeface="Noto Sans"/>
                <a:cs typeface="Noto Sans"/>
                <a:sym typeface="Noto Sans"/>
              </a:rPr>
              <a:t>Safety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1" name="Google Shape;331;p8"/>
          <p:cNvSpPr/>
          <p:nvPr/>
        </p:nvSpPr>
        <p:spPr>
          <a:xfrm>
            <a:off x="8366760" y="4928616"/>
            <a:ext cx="2889504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1060"/>
              <a:buFont typeface="Noto Sans"/>
              <a:buNone/>
            </a:pPr>
            <a:r>
              <a:rPr b="0" i="0" lang="en-US" sz="106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Her Qdrant prefetch aynı user_id ve completed-document filtresini taşır.</a:t>
            </a:r>
            <a:endParaRPr b="0" i="0" sz="106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841248" y="633679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173"/>
              </a:buClr>
              <a:buSzPts val="870"/>
              <a:buFont typeface="Noto Sans"/>
              <a:buNone/>
            </a:pPr>
            <a:r>
              <a:rPr b="1" i="0" lang="en-US" sz="870" u="none" cap="none" strike="noStrike">
                <a:solidFill>
                  <a:srgbClr val="526173"/>
                </a:solidFill>
                <a:latin typeface="Noto Sans"/>
                <a:ea typeface="Noto Sans"/>
                <a:cs typeface="Noto Sans"/>
                <a:sym typeface="Noto Sans"/>
              </a:rPr>
              <a:t>TURKISH AIRLINES  ·  DOCUMENT INTELLIGENCE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11173968" y="633679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900"/>
              <a:buFont typeface="Noto Sans"/>
              <a:buNone/>
            </a:pPr>
            <a:r>
              <a:rPr b="1" i="0" lang="en-US" sz="90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06</a:t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334" name="Google Shape;334;p8" title="thy-logo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45975" y="6185900"/>
            <a:ext cx="670568" cy="502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9"/>
          <p:cNvSpPr/>
          <p:nvPr/>
        </p:nvSpPr>
        <p:spPr>
          <a:xfrm>
            <a:off x="566928" y="329184"/>
            <a:ext cx="2926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C8102E"/>
                </a:solidFill>
                <a:latin typeface="Noto Sans"/>
                <a:ea typeface="Noto Sans"/>
                <a:cs typeface="Noto Sans"/>
                <a:sym typeface="Noto Sans"/>
              </a:rPr>
              <a:t>THY CASE STUDY  /  07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566928" y="713232"/>
            <a:ext cx="106527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2800"/>
              <a:buFont typeface="Noto Sans"/>
              <a:buNone/>
            </a:pPr>
            <a:r>
              <a:rPr b="1" i="0" lang="en-US" sz="280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LangGraph: retrieval ve answer subgraph’ları</a:t>
            </a:r>
            <a:endParaRPr b="0" i="0" sz="2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585216" y="1271016"/>
            <a:ext cx="10561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173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526173"/>
                </a:solidFill>
                <a:latin typeface="Noto Sans"/>
                <a:ea typeface="Noto Sans"/>
                <a:cs typeface="Noto Sans"/>
                <a:sym typeface="Noto Sans"/>
              </a:rPr>
              <a:t>Graph açık, sınırlı ve test edilebilir; başarısız provider çağrısı belge yetersizliği gibi gösterilmez.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3" name="Google Shape;343;p9"/>
          <p:cNvSpPr/>
          <p:nvPr/>
        </p:nvSpPr>
        <p:spPr>
          <a:xfrm rot="720000">
            <a:off x="10863072" y="45720"/>
            <a:ext cx="950976" cy="658368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C8102E">
              <a:alpha val="0"/>
            </a:srgbClr>
          </a:solidFill>
          <a:ln cap="flat" cmpd="sng" w="27925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9"/>
          <p:cNvSpPr/>
          <p:nvPr/>
        </p:nvSpPr>
        <p:spPr>
          <a:xfrm>
            <a:off x="11676888" y="411480"/>
            <a:ext cx="100584" cy="100584"/>
          </a:xfrm>
          <a:prstGeom prst="ellipse">
            <a:avLst/>
          </a:prstGeom>
          <a:solidFill>
            <a:srgbClr val="C8102E"/>
          </a:solidFill>
          <a:ln cap="flat" cmpd="sng" w="12700">
            <a:solidFill>
              <a:srgbClr val="C810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9"/>
          <p:cNvSpPr/>
          <p:nvPr/>
        </p:nvSpPr>
        <p:spPr>
          <a:xfrm>
            <a:off x="594360" y="1755648"/>
            <a:ext cx="7360920" cy="4315968"/>
          </a:xfrm>
          <a:prstGeom prst="roundRect">
            <a:avLst>
              <a:gd fmla="val 1271" name="adj"/>
            </a:avLst>
          </a:prstGeom>
          <a:solidFill>
            <a:srgbClr val="F4F6F8"/>
          </a:solidFill>
          <a:ln cap="flat" cmpd="sng" w="1015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9"/>
          <p:cNvSpPr/>
          <p:nvPr/>
        </p:nvSpPr>
        <p:spPr>
          <a:xfrm>
            <a:off x="868680" y="1947672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1500"/>
              <a:buFont typeface="Noto Sans"/>
              <a:buNone/>
            </a:pPr>
            <a:r>
              <a:rPr b="1" i="0" lang="en-US" sz="150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Parent graph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877824" y="2441448"/>
            <a:ext cx="1700784" cy="310896"/>
          </a:xfrm>
          <a:prstGeom prst="roundRect">
            <a:avLst>
              <a:gd fmla="val 23529" name="adj"/>
            </a:avLst>
          </a:prstGeom>
          <a:solidFill>
            <a:srgbClr val="111B2E"/>
          </a:solidFill>
          <a:ln cap="flat" cmpd="sng" w="9525">
            <a:solidFill>
              <a:srgbClr val="111B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9"/>
          <p:cNvSpPr/>
          <p:nvPr/>
        </p:nvSpPr>
        <p:spPr>
          <a:xfrm>
            <a:off x="950976" y="2468880"/>
            <a:ext cx="1554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QUERY UNDERSTANDING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49" name="Google Shape;349;p9"/>
          <p:cNvCxnSpPr/>
          <p:nvPr/>
        </p:nvCxnSpPr>
        <p:spPr>
          <a:xfrm>
            <a:off x="2670048" y="2596896"/>
            <a:ext cx="384048" cy="0"/>
          </a:xfrm>
          <a:prstGeom prst="straightConnector1">
            <a:avLst/>
          </a:prstGeom>
          <a:noFill/>
          <a:ln cap="flat" cmpd="sng" w="21575">
            <a:solidFill>
              <a:srgbClr val="C8102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0" name="Google Shape;350;p9"/>
          <p:cNvSpPr/>
          <p:nvPr/>
        </p:nvSpPr>
        <p:spPr>
          <a:xfrm>
            <a:off x="3127248" y="2194560"/>
            <a:ext cx="1920240" cy="1901952"/>
          </a:xfrm>
          <a:prstGeom prst="roundRect">
            <a:avLst>
              <a:gd fmla="val 2885" name="adj"/>
            </a:avLst>
          </a:prstGeom>
          <a:solidFill>
            <a:srgbClr val="FBE8EC"/>
          </a:solidFill>
          <a:ln cap="flat" cmpd="sng" w="10150">
            <a:solidFill>
              <a:srgbClr val="F0B5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9"/>
          <p:cNvSpPr/>
          <p:nvPr/>
        </p:nvSpPr>
        <p:spPr>
          <a:xfrm>
            <a:off x="3337560" y="2414016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320"/>
              <a:buFont typeface="Noto Sans"/>
              <a:buNone/>
            </a:pPr>
            <a:r>
              <a:rPr b="1" i="0" lang="en-US" sz="1320" u="none" cap="none" strike="noStrike">
                <a:solidFill>
                  <a:srgbClr val="C8102E"/>
                </a:solidFill>
                <a:latin typeface="Noto Sans"/>
                <a:ea typeface="Noto Sans"/>
                <a:cs typeface="Noto Sans"/>
                <a:sym typeface="Noto Sans"/>
              </a:rPr>
              <a:t>Retrieval subgraph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3410712" y="2770632"/>
            <a:ext cx="1353312" cy="1069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1040"/>
              <a:buFont typeface="Noto Sans"/>
              <a:buNone/>
            </a:pPr>
            <a:r>
              <a:rPr b="0" i="0" lang="en-US" sz="104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plan</a:t>
            </a:r>
            <a:endParaRPr b="0" i="0" sz="10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1040"/>
              <a:buFont typeface="Noto Sans"/>
              <a:buNone/>
            </a:pPr>
            <a:r>
              <a:rPr b="0" i="0" lang="en-US" sz="104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1–2 Send worker</a:t>
            </a:r>
            <a:endParaRPr b="0" i="0" sz="10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1040"/>
              <a:buFont typeface="Noto Sans"/>
              <a:buNone/>
            </a:pPr>
            <a:r>
              <a:rPr b="0" i="0" lang="en-US" sz="104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fuse</a:t>
            </a:r>
            <a:endParaRPr b="0" i="0" sz="10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1040"/>
              <a:buFont typeface="Noto Sans"/>
              <a:buNone/>
            </a:pPr>
            <a:r>
              <a:rPr b="0" i="0" lang="en-US" sz="104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rerank</a:t>
            </a:r>
            <a:endParaRPr b="0" i="0" sz="10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1040"/>
              <a:buFont typeface="Noto Sans"/>
              <a:buNone/>
            </a:pPr>
            <a:r>
              <a:rPr b="0" i="0" lang="en-US" sz="104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classify</a:t>
            </a:r>
            <a:endParaRPr b="0" i="0" sz="10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53" name="Google Shape;353;p9"/>
          <p:cNvCxnSpPr/>
          <p:nvPr/>
        </p:nvCxnSpPr>
        <p:spPr>
          <a:xfrm>
            <a:off x="5157216" y="3136392"/>
            <a:ext cx="384048" cy="0"/>
          </a:xfrm>
          <a:prstGeom prst="straightConnector1">
            <a:avLst/>
          </a:prstGeom>
          <a:noFill/>
          <a:ln cap="flat" cmpd="sng" w="21575">
            <a:solidFill>
              <a:srgbClr val="C8102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4" name="Google Shape;354;p9"/>
          <p:cNvSpPr/>
          <p:nvPr/>
        </p:nvSpPr>
        <p:spPr>
          <a:xfrm>
            <a:off x="5605272" y="2194560"/>
            <a:ext cx="1975104" cy="1901952"/>
          </a:xfrm>
          <a:prstGeom prst="roundRect">
            <a:avLst>
              <a:gd fmla="val 2885" name="adj"/>
            </a:avLst>
          </a:prstGeom>
          <a:solidFill>
            <a:srgbClr val="E3F0F6"/>
          </a:solidFill>
          <a:ln cap="flat" cmpd="sng" w="10150">
            <a:solidFill>
              <a:srgbClr val="BFD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9"/>
          <p:cNvSpPr/>
          <p:nvPr/>
        </p:nvSpPr>
        <p:spPr>
          <a:xfrm>
            <a:off x="5815584" y="2414016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6B8E"/>
              </a:buClr>
              <a:buSzPts val="1320"/>
              <a:buFont typeface="Noto Sans"/>
              <a:buNone/>
            </a:pPr>
            <a:r>
              <a:rPr b="1" i="0" lang="en-US" sz="1320" u="none" cap="none" strike="noStrike">
                <a:solidFill>
                  <a:srgbClr val="246B8E"/>
                </a:solidFill>
                <a:latin typeface="Noto Sans"/>
                <a:ea typeface="Noto Sans"/>
                <a:cs typeface="Noto Sans"/>
                <a:sym typeface="Noto Sans"/>
              </a:rPr>
              <a:t>Answer subgraph</a:t>
            </a:r>
            <a:endParaRPr b="0" i="0" sz="13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5916168" y="2788920"/>
            <a:ext cx="1353312" cy="969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1040"/>
              <a:buFont typeface="Noto Sans"/>
              <a:buNone/>
            </a:pPr>
            <a:r>
              <a:rPr b="0" i="0" lang="en-US" sz="104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generate</a:t>
            </a:r>
            <a:endParaRPr b="0" i="0" sz="10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1040"/>
              <a:buFont typeface="Noto Sans"/>
              <a:buNone/>
            </a:pPr>
            <a:r>
              <a:rPr b="0" i="0" lang="en-US" sz="104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validate citation</a:t>
            </a:r>
            <a:endParaRPr b="0" i="0" sz="10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1040"/>
              <a:buFont typeface="Noto Sans"/>
              <a:buNone/>
            </a:pPr>
            <a:r>
              <a:rPr b="0" i="0" lang="en-US" sz="104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reflect</a:t>
            </a:r>
            <a:endParaRPr b="0" i="0" sz="10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1040"/>
              <a:buFont typeface="Noto Sans"/>
              <a:buNone/>
            </a:pPr>
            <a:r>
              <a:rPr b="0" i="0" lang="en-US" sz="104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repair once</a:t>
            </a:r>
            <a:endParaRPr b="0" i="0" sz="10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57" name="Google Shape;357;p9"/>
          <p:cNvCxnSpPr/>
          <p:nvPr/>
        </p:nvCxnSpPr>
        <p:spPr>
          <a:xfrm>
            <a:off x="6601968" y="4151376"/>
            <a:ext cx="0" cy="530352"/>
          </a:xfrm>
          <a:prstGeom prst="straightConnector1">
            <a:avLst/>
          </a:prstGeom>
          <a:noFill/>
          <a:ln cap="flat" cmpd="sng" w="17775">
            <a:solidFill>
              <a:srgbClr val="246B8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8" name="Google Shape;358;p9"/>
          <p:cNvSpPr/>
          <p:nvPr/>
        </p:nvSpPr>
        <p:spPr>
          <a:xfrm>
            <a:off x="5458968" y="4800600"/>
            <a:ext cx="1143000" cy="310896"/>
          </a:xfrm>
          <a:prstGeom prst="roundRect">
            <a:avLst>
              <a:gd fmla="val 23529" name="adj"/>
            </a:avLst>
          </a:prstGeom>
          <a:solidFill>
            <a:srgbClr val="177A5B"/>
          </a:solidFill>
          <a:ln cap="flat" cmpd="sng" w="9525">
            <a:solidFill>
              <a:srgbClr val="177A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9"/>
          <p:cNvSpPr/>
          <p:nvPr/>
        </p:nvSpPr>
        <p:spPr>
          <a:xfrm>
            <a:off x="5532120" y="4828032"/>
            <a:ext cx="99669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GROUNDED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6711696" y="4800600"/>
            <a:ext cx="932688" cy="310896"/>
          </a:xfrm>
          <a:prstGeom prst="roundRect">
            <a:avLst>
              <a:gd fmla="val 23529" name="adj"/>
            </a:avLst>
          </a:prstGeom>
          <a:solidFill>
            <a:srgbClr val="246B8E"/>
          </a:solidFill>
          <a:ln cap="flat" cmpd="sng" w="9525">
            <a:solidFill>
              <a:srgbClr val="246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9"/>
          <p:cNvSpPr/>
          <p:nvPr/>
        </p:nvSpPr>
        <p:spPr>
          <a:xfrm>
            <a:off x="6784848" y="4828032"/>
            <a:ext cx="7863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HYBRID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5458968" y="5257800"/>
            <a:ext cx="1143000" cy="310896"/>
          </a:xfrm>
          <a:prstGeom prst="roundRect">
            <a:avLst>
              <a:gd fmla="val 23529" name="adj"/>
            </a:avLst>
          </a:prstGeom>
          <a:solidFill>
            <a:srgbClr val="C8102E"/>
          </a:solidFill>
          <a:ln cap="flat" cmpd="sng" w="9525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9"/>
          <p:cNvSpPr/>
          <p:nvPr/>
        </p:nvSpPr>
        <p:spPr>
          <a:xfrm>
            <a:off x="5532120" y="5285232"/>
            <a:ext cx="99669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NO-ANSWER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6711696" y="5257800"/>
            <a:ext cx="932688" cy="310896"/>
          </a:xfrm>
          <a:prstGeom prst="roundRect">
            <a:avLst>
              <a:gd fmla="val 23529" name="adj"/>
            </a:avLst>
          </a:prstGeom>
          <a:solidFill>
            <a:srgbClr val="1A2941"/>
          </a:solidFill>
          <a:ln cap="flat" cmpd="sng" w="9525">
            <a:solidFill>
              <a:srgbClr val="1A29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9"/>
          <p:cNvSpPr/>
          <p:nvPr/>
        </p:nvSpPr>
        <p:spPr>
          <a:xfrm>
            <a:off x="6784848" y="5285232"/>
            <a:ext cx="7863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HISTORY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6" name="Google Shape;366;p9"/>
          <p:cNvSpPr/>
          <p:nvPr/>
        </p:nvSpPr>
        <p:spPr>
          <a:xfrm>
            <a:off x="914400" y="3218688"/>
            <a:ext cx="15727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Kontrollü döngü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914400" y="3547872"/>
            <a:ext cx="1810512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173"/>
              </a:buClr>
              <a:buSzPts val="1060"/>
              <a:buFont typeface="Noto Sans"/>
              <a:buNone/>
            </a:pPr>
            <a:r>
              <a:rPr b="0" i="0" lang="en-US" sz="1060" u="none" cap="none" strike="noStrike">
                <a:solidFill>
                  <a:srgbClr val="526173"/>
                </a:solidFill>
                <a:latin typeface="Noto Sans"/>
                <a:ea typeface="Noto Sans"/>
                <a:cs typeface="Noto Sans"/>
                <a:sym typeface="Noto Sans"/>
              </a:rPr>
              <a:t>Tek düzeltme hakkı vardır. Unbounded agent loop yoktur.</a:t>
            </a:r>
            <a:endParaRPr b="0" i="0" sz="106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877824" y="5376672"/>
            <a:ext cx="3566160" cy="310896"/>
          </a:xfrm>
          <a:prstGeom prst="roundRect">
            <a:avLst>
              <a:gd fmla="val 23529" name="adj"/>
            </a:avLst>
          </a:prstGeom>
          <a:solidFill>
            <a:srgbClr val="FFFFFF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9"/>
          <p:cNvSpPr/>
          <p:nvPr/>
        </p:nvSpPr>
        <p:spPr>
          <a:xfrm>
            <a:off x="950976" y="5404104"/>
            <a:ext cx="34198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ASYNC FAN-OUT / DETERMINISTIC FAN-IN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0" name="Google Shape;370;p9"/>
          <p:cNvSpPr/>
          <p:nvPr/>
        </p:nvSpPr>
        <p:spPr>
          <a:xfrm>
            <a:off x="8247888" y="1755648"/>
            <a:ext cx="3346704" cy="4315968"/>
          </a:xfrm>
          <a:prstGeom prst="roundRect">
            <a:avLst>
              <a:gd fmla="val 1639" name="adj"/>
            </a:avLst>
          </a:prstGeom>
          <a:solidFill>
            <a:srgbClr val="FFFFFF"/>
          </a:solidFill>
          <a:ln cap="flat" cmpd="sng" w="1015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9"/>
          <p:cNvSpPr/>
          <p:nvPr/>
        </p:nvSpPr>
        <p:spPr>
          <a:xfrm>
            <a:off x="8522208" y="2039112"/>
            <a:ext cx="530352" cy="530352"/>
          </a:xfrm>
          <a:prstGeom prst="roundRect">
            <a:avLst>
              <a:gd fmla="val 8621" name="adj"/>
            </a:avLst>
          </a:prstGeom>
          <a:solidFill>
            <a:srgbClr val="1A2941"/>
          </a:solidFill>
          <a:ln cap="flat" cmpd="sng" w="12700">
            <a:solidFill>
              <a:srgbClr val="1A294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2" name="Google Shape;37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59368" y="217627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9"/>
          <p:cNvSpPr/>
          <p:nvPr/>
        </p:nvSpPr>
        <p:spPr>
          <a:xfrm>
            <a:off x="9226296" y="2048256"/>
            <a:ext cx="19933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Routing kararları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4" name="Google Shape;374;p9"/>
          <p:cNvSpPr/>
          <p:nvPr/>
        </p:nvSpPr>
        <p:spPr>
          <a:xfrm>
            <a:off x="8540496" y="2743200"/>
            <a:ext cx="73152" cy="566928"/>
          </a:xfrm>
          <a:prstGeom prst="rect">
            <a:avLst/>
          </a:prstGeom>
          <a:solidFill>
            <a:srgbClr val="177A5B"/>
          </a:solidFill>
          <a:ln cap="flat" cmpd="sng" w="12700">
            <a:solidFill>
              <a:srgbClr val="177A5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9"/>
          <p:cNvSpPr/>
          <p:nvPr/>
        </p:nvSpPr>
        <p:spPr>
          <a:xfrm>
            <a:off x="8778240" y="2734056"/>
            <a:ext cx="20848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1220"/>
              <a:buFont typeface="Noto Sans"/>
              <a:buNone/>
            </a:pPr>
            <a:r>
              <a:rPr b="1" i="0" lang="en-US" sz="122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Kanıt yeterli</a:t>
            </a:r>
            <a:endParaRPr b="0" i="0" sz="12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6" name="Google Shape;376;p9"/>
          <p:cNvSpPr/>
          <p:nvPr/>
        </p:nvSpPr>
        <p:spPr>
          <a:xfrm>
            <a:off x="8778240" y="2999232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173"/>
              </a:buClr>
              <a:buSzPts val="970"/>
              <a:buFont typeface="Noto Sans"/>
              <a:buNone/>
            </a:pPr>
            <a:r>
              <a:rPr b="0" i="0" lang="en-US" sz="970" u="none" cap="none" strike="noStrike">
                <a:solidFill>
                  <a:srgbClr val="526173"/>
                </a:solidFill>
                <a:latin typeface="Noto Sans"/>
                <a:ea typeface="Noto Sans"/>
                <a:cs typeface="Noto Sans"/>
                <a:sym typeface="Noto Sans"/>
              </a:rPr>
              <a:t>Answer subgraph → grounded response</a:t>
            </a:r>
            <a:endParaRPr b="0" i="0" sz="9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7" name="Google Shape;377;p9"/>
          <p:cNvSpPr/>
          <p:nvPr/>
        </p:nvSpPr>
        <p:spPr>
          <a:xfrm>
            <a:off x="8540496" y="3547872"/>
            <a:ext cx="73152" cy="566928"/>
          </a:xfrm>
          <a:prstGeom prst="rect">
            <a:avLst/>
          </a:prstGeom>
          <a:solidFill>
            <a:srgbClr val="246B8E"/>
          </a:solidFill>
          <a:ln cap="flat" cmpd="sng" w="12700">
            <a:solidFill>
              <a:srgbClr val="246B8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9"/>
          <p:cNvSpPr/>
          <p:nvPr/>
        </p:nvSpPr>
        <p:spPr>
          <a:xfrm>
            <a:off x="8778240" y="3538728"/>
            <a:ext cx="20848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1220"/>
              <a:buFont typeface="Noto Sans"/>
              <a:buNone/>
            </a:pPr>
            <a:r>
              <a:rPr b="1" i="0" lang="en-US" sz="122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General + empty</a:t>
            </a:r>
            <a:endParaRPr b="0" i="0" sz="12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9" name="Google Shape;379;p9"/>
          <p:cNvSpPr/>
          <p:nvPr/>
        </p:nvSpPr>
        <p:spPr>
          <a:xfrm>
            <a:off x="8778240" y="3803904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173"/>
              </a:buClr>
              <a:buSzPts val="970"/>
              <a:buFont typeface="Noto Sans"/>
              <a:buNone/>
            </a:pPr>
            <a:r>
              <a:rPr b="0" i="0" lang="en-US" sz="970" u="none" cap="none" strike="noStrike">
                <a:solidFill>
                  <a:srgbClr val="526173"/>
                </a:solidFill>
                <a:latin typeface="Noto Sans"/>
                <a:ea typeface="Noto Sans"/>
                <a:cs typeface="Noto Sans"/>
                <a:sym typeface="Noto Sans"/>
              </a:rPr>
              <a:t>Etiketli, citation-free genel cevap</a:t>
            </a:r>
            <a:endParaRPr b="0" i="0" sz="9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0" name="Google Shape;380;p9"/>
          <p:cNvSpPr/>
          <p:nvPr/>
        </p:nvSpPr>
        <p:spPr>
          <a:xfrm>
            <a:off x="8540496" y="4352544"/>
            <a:ext cx="73152" cy="566928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9"/>
          <p:cNvSpPr/>
          <p:nvPr/>
        </p:nvSpPr>
        <p:spPr>
          <a:xfrm>
            <a:off x="8778240" y="4343400"/>
            <a:ext cx="20848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1220"/>
              <a:buFont typeface="Noto Sans"/>
              <a:buNone/>
            </a:pPr>
            <a:r>
              <a:rPr b="1" i="0" lang="en-US" sz="122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Belgeye özel / fatal</a:t>
            </a:r>
            <a:endParaRPr b="0" i="0" sz="12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2" name="Google Shape;382;p9"/>
          <p:cNvSpPr/>
          <p:nvPr/>
        </p:nvSpPr>
        <p:spPr>
          <a:xfrm>
            <a:off x="8778240" y="4608576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173"/>
              </a:buClr>
              <a:buSzPts val="970"/>
              <a:buFont typeface="Noto Sans"/>
              <a:buNone/>
            </a:pPr>
            <a:r>
              <a:rPr b="0" i="0" lang="en-US" sz="970" u="none" cap="none" strike="noStrike">
                <a:solidFill>
                  <a:srgbClr val="526173"/>
                </a:solidFill>
                <a:latin typeface="Noto Sans"/>
                <a:ea typeface="Noto Sans"/>
                <a:cs typeface="Noto Sans"/>
                <a:sym typeface="Noto Sans"/>
              </a:rPr>
              <a:t>No-answer veya provider error</a:t>
            </a:r>
            <a:endParaRPr b="0" i="0" sz="9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8540496" y="5330952"/>
            <a:ext cx="2560320" cy="310896"/>
          </a:xfrm>
          <a:prstGeom prst="roundRect">
            <a:avLst>
              <a:gd fmla="val 23529" name="adj"/>
            </a:avLst>
          </a:prstGeom>
          <a:solidFill>
            <a:srgbClr val="F4F6F8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9"/>
          <p:cNvSpPr/>
          <p:nvPr/>
        </p:nvSpPr>
        <p:spPr>
          <a:xfrm>
            <a:off x="8613648" y="5358384"/>
            <a:ext cx="241401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POSTGRESQL SESSION MEMORY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841248" y="633679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173"/>
              </a:buClr>
              <a:buSzPts val="870"/>
              <a:buFont typeface="Noto Sans"/>
              <a:buNone/>
            </a:pPr>
            <a:r>
              <a:rPr b="1" i="0" lang="en-US" sz="870" u="none" cap="none" strike="noStrike">
                <a:solidFill>
                  <a:srgbClr val="526173"/>
                </a:solidFill>
                <a:latin typeface="Noto Sans"/>
                <a:ea typeface="Noto Sans"/>
                <a:cs typeface="Noto Sans"/>
                <a:sym typeface="Noto Sans"/>
              </a:rPr>
              <a:t>TURKISH AIRLINES  ·  DOCUMENT INTELLIGENCE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6" name="Google Shape;386;p9"/>
          <p:cNvSpPr/>
          <p:nvPr/>
        </p:nvSpPr>
        <p:spPr>
          <a:xfrm>
            <a:off x="11173968" y="633679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900"/>
              <a:buFont typeface="Noto Sans"/>
              <a:buNone/>
            </a:pPr>
            <a:r>
              <a:rPr b="1" i="0" lang="en-US" sz="90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07</a:t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387" name="Google Shape;387;p9" title="thy-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975" y="6185900"/>
            <a:ext cx="670568" cy="502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0"/>
          <p:cNvSpPr/>
          <p:nvPr/>
        </p:nvSpPr>
        <p:spPr>
          <a:xfrm>
            <a:off x="566928" y="329184"/>
            <a:ext cx="2926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C8102E"/>
                </a:solidFill>
                <a:latin typeface="Noto Sans"/>
                <a:ea typeface="Noto Sans"/>
                <a:cs typeface="Noto Sans"/>
                <a:sym typeface="Noto Sans"/>
              </a:rPr>
              <a:t>THY CASE STUDY  /  08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566928" y="713232"/>
            <a:ext cx="106527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2800"/>
              <a:buFont typeface="Noto Sans"/>
              <a:buNone/>
            </a:pPr>
            <a:r>
              <a:rPr b="1" i="0" lang="en-US" sz="280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Güven, kalite ve operasyonel görünürlük</a:t>
            </a:r>
            <a:endParaRPr b="0" i="0" sz="2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5" name="Google Shape;395;p10"/>
          <p:cNvSpPr/>
          <p:nvPr/>
        </p:nvSpPr>
        <p:spPr>
          <a:xfrm>
            <a:off x="585216" y="1271016"/>
            <a:ext cx="10561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173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526173"/>
                </a:solidFill>
                <a:latin typeface="Noto Sans"/>
                <a:ea typeface="Noto Sans"/>
                <a:cs typeface="Noto Sans"/>
                <a:sym typeface="Noto Sans"/>
              </a:rPr>
              <a:t>Citation bir UI özelliği değil; retrieval’dan final response’a kadar korunan bir veri sözleşmesidir.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6" name="Google Shape;396;p10"/>
          <p:cNvSpPr/>
          <p:nvPr/>
        </p:nvSpPr>
        <p:spPr>
          <a:xfrm rot="720000">
            <a:off x="10863072" y="45720"/>
            <a:ext cx="950976" cy="658368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C8102E">
              <a:alpha val="0"/>
            </a:srgbClr>
          </a:solidFill>
          <a:ln cap="flat" cmpd="sng" w="27925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0"/>
          <p:cNvSpPr/>
          <p:nvPr/>
        </p:nvSpPr>
        <p:spPr>
          <a:xfrm>
            <a:off x="11676888" y="411480"/>
            <a:ext cx="100584" cy="100584"/>
          </a:xfrm>
          <a:prstGeom prst="ellipse">
            <a:avLst/>
          </a:prstGeom>
          <a:solidFill>
            <a:srgbClr val="C8102E"/>
          </a:solidFill>
          <a:ln cap="flat" cmpd="sng" w="12700">
            <a:solidFill>
              <a:srgbClr val="C810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0"/>
          <p:cNvSpPr/>
          <p:nvPr/>
        </p:nvSpPr>
        <p:spPr>
          <a:xfrm>
            <a:off x="621792" y="1874520"/>
            <a:ext cx="3255264" cy="2971800"/>
          </a:xfrm>
          <a:prstGeom prst="roundRect">
            <a:avLst>
              <a:gd fmla="val 1846" name="adj"/>
            </a:avLst>
          </a:prstGeom>
          <a:solidFill>
            <a:srgbClr val="FFFFFF"/>
          </a:solidFill>
          <a:ln cap="flat" cmpd="sng" w="1015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0"/>
          <p:cNvSpPr/>
          <p:nvPr/>
        </p:nvSpPr>
        <p:spPr>
          <a:xfrm>
            <a:off x="859536" y="2139696"/>
            <a:ext cx="612648" cy="612648"/>
          </a:xfrm>
          <a:prstGeom prst="roundRect">
            <a:avLst>
              <a:gd fmla="val 7463" name="adj"/>
            </a:avLst>
          </a:prstGeom>
          <a:solidFill>
            <a:srgbClr val="C8102E"/>
          </a:solidFill>
          <a:ln cap="flat" cmpd="sng" w="12700">
            <a:solidFill>
              <a:srgbClr val="C810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0" name="Google Shape;40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4984" y="229514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10"/>
          <p:cNvSpPr/>
          <p:nvPr/>
        </p:nvSpPr>
        <p:spPr>
          <a:xfrm>
            <a:off x="1627632" y="2157984"/>
            <a:ext cx="18470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Isolation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2" name="Google Shape;402;p10"/>
          <p:cNvSpPr/>
          <p:nvPr/>
        </p:nvSpPr>
        <p:spPr>
          <a:xfrm>
            <a:off x="914400" y="2926080"/>
            <a:ext cx="91440" cy="91440"/>
          </a:xfrm>
          <a:prstGeom prst="ellipse">
            <a:avLst/>
          </a:prstGeom>
          <a:solidFill>
            <a:srgbClr val="C8102E"/>
          </a:solidFill>
          <a:ln cap="flat" cmpd="sng" w="12700">
            <a:solidFill>
              <a:srgbClr val="C810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0"/>
          <p:cNvSpPr/>
          <p:nvPr/>
        </p:nvSpPr>
        <p:spPr>
          <a:xfrm>
            <a:off x="1124712" y="2816352"/>
            <a:ext cx="241401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Backend-resolved user UUID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4" name="Google Shape;404;p10"/>
          <p:cNvSpPr/>
          <p:nvPr/>
        </p:nvSpPr>
        <p:spPr>
          <a:xfrm>
            <a:off x="914400" y="3429000"/>
            <a:ext cx="91440" cy="91440"/>
          </a:xfrm>
          <a:prstGeom prst="ellipse">
            <a:avLst/>
          </a:prstGeom>
          <a:solidFill>
            <a:srgbClr val="C8102E"/>
          </a:solidFill>
          <a:ln cap="flat" cmpd="sng" w="12700">
            <a:solidFill>
              <a:srgbClr val="C810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0"/>
          <p:cNvSpPr/>
          <p:nvPr/>
        </p:nvSpPr>
        <p:spPr>
          <a:xfrm>
            <a:off x="1124712" y="3319272"/>
            <a:ext cx="241401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Qdrant user + document filter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6" name="Google Shape;406;p10"/>
          <p:cNvSpPr/>
          <p:nvPr/>
        </p:nvSpPr>
        <p:spPr>
          <a:xfrm>
            <a:off x="914400" y="3931920"/>
            <a:ext cx="91440" cy="91440"/>
          </a:xfrm>
          <a:prstGeom prst="ellipse">
            <a:avLst/>
          </a:prstGeom>
          <a:solidFill>
            <a:srgbClr val="C8102E"/>
          </a:solidFill>
          <a:ln cap="flat" cmpd="sng" w="12700">
            <a:solidFill>
              <a:srgbClr val="C810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0"/>
          <p:cNvSpPr/>
          <p:nvPr/>
        </p:nvSpPr>
        <p:spPr>
          <a:xfrm>
            <a:off x="1124712" y="3822192"/>
            <a:ext cx="241401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Cross-user payload recheck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4133088" y="1874520"/>
            <a:ext cx="3255264" cy="2971800"/>
          </a:xfrm>
          <a:prstGeom prst="roundRect">
            <a:avLst>
              <a:gd fmla="val 1846" name="adj"/>
            </a:avLst>
          </a:prstGeom>
          <a:solidFill>
            <a:srgbClr val="FFFFFF"/>
          </a:solidFill>
          <a:ln cap="flat" cmpd="sng" w="1015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0"/>
          <p:cNvSpPr/>
          <p:nvPr/>
        </p:nvSpPr>
        <p:spPr>
          <a:xfrm>
            <a:off x="4370832" y="2139696"/>
            <a:ext cx="612648" cy="612648"/>
          </a:xfrm>
          <a:prstGeom prst="roundRect">
            <a:avLst>
              <a:gd fmla="val 7463" name="adj"/>
            </a:avLst>
          </a:prstGeom>
          <a:solidFill>
            <a:srgbClr val="177A5B"/>
          </a:solidFill>
          <a:ln cap="flat" cmpd="sng" w="12700">
            <a:solidFill>
              <a:srgbClr val="177A5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0" name="Google Shape;41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6280" y="229514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10"/>
          <p:cNvSpPr/>
          <p:nvPr/>
        </p:nvSpPr>
        <p:spPr>
          <a:xfrm>
            <a:off x="5138928" y="2157984"/>
            <a:ext cx="18470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Grounding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2" name="Google Shape;412;p10"/>
          <p:cNvSpPr/>
          <p:nvPr/>
        </p:nvSpPr>
        <p:spPr>
          <a:xfrm>
            <a:off x="4425696" y="2926080"/>
            <a:ext cx="91440" cy="91440"/>
          </a:xfrm>
          <a:prstGeom prst="ellipse">
            <a:avLst/>
          </a:prstGeom>
          <a:solidFill>
            <a:srgbClr val="177A5B"/>
          </a:solidFill>
          <a:ln cap="flat" cmpd="sng" w="12700">
            <a:solidFill>
              <a:srgbClr val="177A5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0"/>
          <p:cNvSpPr/>
          <p:nvPr/>
        </p:nvSpPr>
        <p:spPr>
          <a:xfrm>
            <a:off x="4636008" y="2816352"/>
            <a:ext cx="241401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Opaque evidence IDs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4" name="Google Shape;414;p10"/>
          <p:cNvSpPr/>
          <p:nvPr/>
        </p:nvSpPr>
        <p:spPr>
          <a:xfrm>
            <a:off x="4425696" y="3429000"/>
            <a:ext cx="91440" cy="91440"/>
          </a:xfrm>
          <a:prstGeom prst="ellipse">
            <a:avLst/>
          </a:prstGeom>
          <a:solidFill>
            <a:srgbClr val="177A5B"/>
          </a:solidFill>
          <a:ln cap="flat" cmpd="sng" w="12700">
            <a:solidFill>
              <a:srgbClr val="177A5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0"/>
          <p:cNvSpPr/>
          <p:nvPr/>
        </p:nvSpPr>
        <p:spPr>
          <a:xfrm>
            <a:off x="4636008" y="3319272"/>
            <a:ext cx="241401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Exact citation validation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6" name="Google Shape;416;p10"/>
          <p:cNvSpPr/>
          <p:nvPr/>
        </p:nvSpPr>
        <p:spPr>
          <a:xfrm>
            <a:off x="4425696" y="3931920"/>
            <a:ext cx="91440" cy="91440"/>
          </a:xfrm>
          <a:prstGeom prst="ellipse">
            <a:avLst/>
          </a:prstGeom>
          <a:solidFill>
            <a:srgbClr val="177A5B"/>
          </a:solidFill>
          <a:ln cap="flat" cmpd="sng" w="12700">
            <a:solidFill>
              <a:srgbClr val="177A5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0"/>
          <p:cNvSpPr/>
          <p:nvPr/>
        </p:nvSpPr>
        <p:spPr>
          <a:xfrm>
            <a:off x="4636008" y="3822192"/>
            <a:ext cx="241401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Claim-level reflection + one repair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8" name="Google Shape;418;p10"/>
          <p:cNvSpPr/>
          <p:nvPr/>
        </p:nvSpPr>
        <p:spPr>
          <a:xfrm>
            <a:off x="7644384" y="1874520"/>
            <a:ext cx="3255264" cy="2971800"/>
          </a:xfrm>
          <a:prstGeom prst="roundRect">
            <a:avLst>
              <a:gd fmla="val 1846" name="adj"/>
            </a:avLst>
          </a:prstGeom>
          <a:solidFill>
            <a:srgbClr val="FFFFFF"/>
          </a:solidFill>
          <a:ln cap="flat" cmpd="sng" w="1015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0"/>
          <p:cNvSpPr/>
          <p:nvPr/>
        </p:nvSpPr>
        <p:spPr>
          <a:xfrm>
            <a:off x="7882128" y="2139696"/>
            <a:ext cx="612648" cy="612648"/>
          </a:xfrm>
          <a:prstGeom prst="roundRect">
            <a:avLst>
              <a:gd fmla="val 7463" name="adj"/>
            </a:avLst>
          </a:prstGeom>
          <a:solidFill>
            <a:srgbClr val="246B8E"/>
          </a:solidFill>
          <a:ln cap="flat" cmpd="sng" w="12700">
            <a:solidFill>
              <a:srgbClr val="246B8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0" name="Google Shape;420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37576" y="229514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10"/>
          <p:cNvSpPr/>
          <p:nvPr/>
        </p:nvSpPr>
        <p:spPr>
          <a:xfrm>
            <a:off x="8650224" y="2157984"/>
            <a:ext cx="18470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Operations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22" name="Google Shape;422;p10"/>
          <p:cNvSpPr/>
          <p:nvPr/>
        </p:nvSpPr>
        <p:spPr>
          <a:xfrm>
            <a:off x="7936992" y="2926080"/>
            <a:ext cx="91440" cy="91440"/>
          </a:xfrm>
          <a:prstGeom prst="ellipse">
            <a:avLst/>
          </a:prstGeom>
          <a:solidFill>
            <a:srgbClr val="246B8E"/>
          </a:solidFill>
          <a:ln cap="flat" cmpd="sng" w="12700">
            <a:solidFill>
              <a:srgbClr val="246B8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0"/>
          <p:cNvSpPr/>
          <p:nvPr/>
        </p:nvSpPr>
        <p:spPr>
          <a:xfrm>
            <a:off x="8147304" y="2816352"/>
            <a:ext cx="241401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Usage and versioned cost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24" name="Google Shape;424;p10"/>
          <p:cNvSpPr/>
          <p:nvPr/>
        </p:nvSpPr>
        <p:spPr>
          <a:xfrm>
            <a:off x="7936992" y="3429000"/>
            <a:ext cx="91440" cy="91440"/>
          </a:xfrm>
          <a:prstGeom prst="ellipse">
            <a:avLst/>
          </a:prstGeom>
          <a:solidFill>
            <a:srgbClr val="246B8E"/>
          </a:solidFill>
          <a:ln cap="flat" cmpd="sng" w="12700">
            <a:solidFill>
              <a:srgbClr val="246B8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0"/>
          <p:cNvSpPr/>
          <p:nvPr/>
        </p:nvSpPr>
        <p:spPr>
          <a:xfrm>
            <a:off x="8147304" y="3319272"/>
            <a:ext cx="241401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Recall@K · MRR · no-answer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26" name="Google Shape;426;p10"/>
          <p:cNvSpPr/>
          <p:nvPr/>
        </p:nvSpPr>
        <p:spPr>
          <a:xfrm>
            <a:off x="7936992" y="3931920"/>
            <a:ext cx="91440" cy="91440"/>
          </a:xfrm>
          <a:prstGeom prst="ellipse">
            <a:avLst/>
          </a:prstGeom>
          <a:solidFill>
            <a:srgbClr val="246B8E"/>
          </a:solidFill>
          <a:ln cap="flat" cmpd="sng" w="12700">
            <a:solidFill>
              <a:srgbClr val="246B8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0"/>
          <p:cNvSpPr/>
          <p:nvPr/>
        </p:nvSpPr>
        <p:spPr>
          <a:xfrm>
            <a:off x="8147304" y="3822192"/>
            <a:ext cx="241401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OpenTelemetry production target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28" name="Google Shape;428;p10"/>
          <p:cNvSpPr/>
          <p:nvPr/>
        </p:nvSpPr>
        <p:spPr>
          <a:xfrm>
            <a:off x="621717" y="5084122"/>
            <a:ext cx="10278000" cy="749700"/>
          </a:xfrm>
          <a:prstGeom prst="roundRect">
            <a:avLst>
              <a:gd fmla="val 7317" name="adj"/>
            </a:avLst>
          </a:prstGeom>
          <a:solidFill>
            <a:srgbClr val="111B2E"/>
          </a:solidFill>
          <a:ln cap="flat" cmpd="sng" w="10150">
            <a:solidFill>
              <a:srgbClr val="111B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0"/>
          <p:cNvSpPr/>
          <p:nvPr/>
        </p:nvSpPr>
        <p:spPr>
          <a:xfrm>
            <a:off x="905256" y="5285232"/>
            <a:ext cx="640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Noto San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319</a:t>
            </a:r>
            <a:endParaRPr b="0" i="0" sz="2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0" name="Google Shape;430;p10"/>
          <p:cNvSpPr/>
          <p:nvPr/>
        </p:nvSpPr>
        <p:spPr>
          <a:xfrm>
            <a:off x="1545336" y="5340096"/>
            <a:ext cx="9326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FEA"/>
              </a:buClr>
              <a:buSzPts val="1020"/>
              <a:buFont typeface="Noto Sans"/>
              <a:buNone/>
            </a:pPr>
            <a:r>
              <a:rPr b="0" i="0" lang="en-US" sz="1020" u="none" cap="none" strike="noStrike">
                <a:solidFill>
                  <a:srgbClr val="D7DFEA"/>
                </a:solidFill>
                <a:latin typeface="Noto Sans"/>
                <a:ea typeface="Noto Sans"/>
                <a:cs typeface="Noto Sans"/>
                <a:sym typeface="Noto Sans"/>
              </a:rPr>
              <a:t>Python testi</a:t>
            </a:r>
            <a:endParaRPr b="0" i="0" sz="10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1" name="Google Shape;431;p10"/>
          <p:cNvSpPr/>
          <p:nvPr/>
        </p:nvSpPr>
        <p:spPr>
          <a:xfrm>
            <a:off x="2907792" y="5285232"/>
            <a:ext cx="4206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Noto San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32</a:t>
            </a:r>
            <a:endParaRPr b="0" i="0" sz="2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2" name="Google Shape;432;p10"/>
          <p:cNvSpPr/>
          <p:nvPr/>
        </p:nvSpPr>
        <p:spPr>
          <a:xfrm>
            <a:off x="3364992" y="5340096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FEA"/>
              </a:buClr>
              <a:buSzPts val="1020"/>
              <a:buFont typeface="Noto Sans"/>
              <a:buNone/>
            </a:pPr>
            <a:r>
              <a:rPr b="0" i="0" lang="en-US" sz="1020" u="none" cap="none" strike="noStrike">
                <a:solidFill>
                  <a:srgbClr val="D7DFEA"/>
                </a:solidFill>
                <a:latin typeface="Noto Sans"/>
                <a:ea typeface="Noto Sans"/>
                <a:cs typeface="Noto Sans"/>
                <a:sym typeface="Noto Sans"/>
              </a:rPr>
              <a:t>frontend testi</a:t>
            </a:r>
            <a:endParaRPr b="0" i="0" sz="10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3" name="Google Shape;433;p10"/>
          <p:cNvSpPr/>
          <p:nvPr/>
        </p:nvSpPr>
        <p:spPr>
          <a:xfrm>
            <a:off x="4992624" y="5285232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Noto San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</a:t>
            </a:r>
            <a:endParaRPr b="0" i="0" sz="2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4" name="Google Shape;434;p10"/>
          <p:cNvSpPr/>
          <p:nvPr/>
        </p:nvSpPr>
        <p:spPr>
          <a:xfrm>
            <a:off x="5321808" y="5340096"/>
            <a:ext cx="1627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FEA"/>
              </a:buClr>
              <a:buSzPts val="1020"/>
              <a:buFont typeface="Noto Sans"/>
              <a:buNone/>
            </a:pPr>
            <a:r>
              <a:rPr b="0" i="0" lang="en-US" sz="1020" u="none" cap="none" strike="noStrike">
                <a:solidFill>
                  <a:srgbClr val="D7DFEA"/>
                </a:solidFill>
                <a:latin typeface="Noto Sans"/>
                <a:ea typeface="Noto Sans"/>
                <a:cs typeface="Noto Sans"/>
                <a:sym typeface="Noto Sans"/>
              </a:rPr>
              <a:t>unauthorized chunk hedefi</a:t>
            </a:r>
            <a:endParaRPr b="0" i="0" sz="10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5" name="Google Shape;435;p10"/>
          <p:cNvSpPr/>
          <p:nvPr/>
        </p:nvSpPr>
        <p:spPr>
          <a:xfrm>
            <a:off x="7388352" y="5285232"/>
            <a:ext cx="3291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Noto San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6" name="Google Shape;436;p10"/>
          <p:cNvSpPr/>
          <p:nvPr/>
        </p:nvSpPr>
        <p:spPr>
          <a:xfrm>
            <a:off x="7726680" y="5340096"/>
            <a:ext cx="106070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FEA"/>
              </a:buClr>
              <a:buSzPts val="1020"/>
              <a:buFont typeface="Noto Sans"/>
              <a:buNone/>
            </a:pPr>
            <a:r>
              <a:rPr b="0" i="0" lang="en-US" sz="1020" u="none" cap="none" strike="noStrike">
                <a:solidFill>
                  <a:srgbClr val="D7DFEA"/>
                </a:solidFill>
                <a:latin typeface="Noto Sans"/>
                <a:ea typeface="Noto Sans"/>
                <a:cs typeface="Noto Sans"/>
                <a:sym typeface="Noto Sans"/>
              </a:rPr>
              <a:t>bounded repair</a:t>
            </a:r>
            <a:endParaRPr b="0" i="0" sz="10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7" name="Google Shape;437;p10"/>
          <p:cNvSpPr/>
          <p:nvPr/>
        </p:nvSpPr>
        <p:spPr>
          <a:xfrm>
            <a:off x="9217152" y="5303520"/>
            <a:ext cx="13350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8FA0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FF8FA0"/>
                </a:solidFill>
                <a:latin typeface="Noto Sans"/>
                <a:ea typeface="Noto Sans"/>
                <a:cs typeface="Noto Sans"/>
                <a:sym typeface="Noto Sans"/>
              </a:rPr>
              <a:t>Fail closed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8" name="Google Shape;438;p10"/>
          <p:cNvSpPr/>
          <p:nvPr/>
        </p:nvSpPr>
        <p:spPr>
          <a:xfrm>
            <a:off x="841248" y="633679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173"/>
              </a:buClr>
              <a:buSzPts val="870"/>
              <a:buFont typeface="Noto Sans"/>
              <a:buNone/>
            </a:pPr>
            <a:r>
              <a:rPr b="1" i="0" lang="en-US" sz="870" u="none" cap="none" strike="noStrike">
                <a:solidFill>
                  <a:srgbClr val="526173"/>
                </a:solidFill>
                <a:latin typeface="Noto Sans"/>
                <a:ea typeface="Noto Sans"/>
                <a:cs typeface="Noto Sans"/>
                <a:sym typeface="Noto Sans"/>
              </a:rPr>
              <a:t>TURKISH AIRLINES  ·  DOCUMENT INTELLIGENCE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9" name="Google Shape;439;p10"/>
          <p:cNvSpPr/>
          <p:nvPr/>
        </p:nvSpPr>
        <p:spPr>
          <a:xfrm>
            <a:off x="11173968" y="633679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900"/>
              <a:buFont typeface="Noto Sans"/>
              <a:buNone/>
            </a:pPr>
            <a:r>
              <a:rPr b="1" i="0" lang="en-US" sz="90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08</a:t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440" name="Google Shape;440;p10" title="thy-log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5975" y="6185900"/>
            <a:ext cx="670568" cy="502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1"/>
          <p:cNvSpPr/>
          <p:nvPr/>
        </p:nvSpPr>
        <p:spPr>
          <a:xfrm>
            <a:off x="566928" y="329184"/>
            <a:ext cx="2926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C8102E"/>
                </a:solidFill>
                <a:latin typeface="Noto Sans"/>
                <a:ea typeface="Noto Sans"/>
                <a:cs typeface="Noto Sans"/>
                <a:sym typeface="Noto Sans"/>
              </a:rPr>
              <a:t>THY CASE STUDY  /  09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7" name="Google Shape;447;p11"/>
          <p:cNvSpPr/>
          <p:nvPr/>
        </p:nvSpPr>
        <p:spPr>
          <a:xfrm>
            <a:off x="566928" y="713232"/>
            <a:ext cx="106527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2800"/>
              <a:buFont typeface="Noto Sans"/>
              <a:buNone/>
            </a:pPr>
            <a:r>
              <a:rPr b="1" i="0" lang="en-US" sz="280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Model geliştirme stratejisi: önce RAG, sonra ölçülebilir tuning</a:t>
            </a:r>
            <a:endParaRPr b="0" i="0" sz="2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8" name="Google Shape;448;p11"/>
          <p:cNvSpPr/>
          <p:nvPr/>
        </p:nvSpPr>
        <p:spPr>
          <a:xfrm>
            <a:off x="585216" y="1271016"/>
            <a:ext cx="10561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173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526173"/>
                </a:solidFill>
                <a:latin typeface="Noto Sans"/>
                <a:ea typeface="Noto Sans"/>
                <a:cs typeface="Noto Sans"/>
                <a:sym typeface="Noto Sans"/>
              </a:rPr>
              <a:t>2.000 şirket dokümanı model ağırlıklarına değil retrieval katmanına aittir.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9" name="Google Shape;449;p11"/>
          <p:cNvSpPr/>
          <p:nvPr/>
        </p:nvSpPr>
        <p:spPr>
          <a:xfrm rot="720000">
            <a:off x="10863072" y="45720"/>
            <a:ext cx="950976" cy="658368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C8102E">
              <a:alpha val="0"/>
            </a:srgbClr>
          </a:solidFill>
          <a:ln cap="flat" cmpd="sng" w="27925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1"/>
          <p:cNvSpPr/>
          <p:nvPr/>
        </p:nvSpPr>
        <p:spPr>
          <a:xfrm>
            <a:off x="11676888" y="411480"/>
            <a:ext cx="100584" cy="100584"/>
          </a:xfrm>
          <a:prstGeom prst="ellipse">
            <a:avLst/>
          </a:prstGeom>
          <a:solidFill>
            <a:srgbClr val="C8102E"/>
          </a:solidFill>
          <a:ln cap="flat" cmpd="sng" w="12700">
            <a:solidFill>
              <a:srgbClr val="C810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1"/>
          <p:cNvSpPr/>
          <p:nvPr/>
        </p:nvSpPr>
        <p:spPr>
          <a:xfrm>
            <a:off x="621792" y="1810512"/>
            <a:ext cx="2880360" cy="4078224"/>
          </a:xfrm>
          <a:prstGeom prst="roundRect">
            <a:avLst>
              <a:gd fmla="val 1905" name="adj"/>
            </a:avLst>
          </a:prstGeom>
          <a:solidFill>
            <a:srgbClr val="111B2E"/>
          </a:solidFill>
          <a:ln cap="flat" cmpd="sng" w="10150">
            <a:solidFill>
              <a:srgbClr val="111B2E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1"/>
          <p:cNvSpPr/>
          <p:nvPr/>
        </p:nvSpPr>
        <p:spPr>
          <a:xfrm>
            <a:off x="896112" y="2075688"/>
            <a:ext cx="1600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Veri varlıkları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3" name="Google Shape;453;p11"/>
          <p:cNvSpPr/>
          <p:nvPr/>
        </p:nvSpPr>
        <p:spPr>
          <a:xfrm>
            <a:off x="896112" y="2697480"/>
            <a:ext cx="11430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184"/>
              </a:buClr>
              <a:buSzPts val="3200"/>
              <a:buFont typeface="Noto Sans"/>
              <a:buNone/>
            </a:pPr>
            <a:r>
              <a:rPr b="1" i="0" lang="en-US" sz="3200" u="none" cap="none" strike="noStrike">
                <a:solidFill>
                  <a:srgbClr val="FF7184"/>
                </a:solidFill>
                <a:latin typeface="Noto Sans"/>
                <a:ea typeface="Noto Sans"/>
                <a:cs typeface="Noto Sans"/>
                <a:sym typeface="Noto Sans"/>
              </a:rPr>
              <a:t>2.000</a:t>
            </a:r>
            <a:endParaRPr b="0" i="0" sz="3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4" name="Google Shape;454;p11"/>
          <p:cNvSpPr/>
          <p:nvPr/>
        </p:nvSpPr>
        <p:spPr>
          <a:xfrm>
            <a:off x="2105440" y="2843846"/>
            <a:ext cx="1060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FEA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D7DFEA"/>
                </a:solidFill>
                <a:latin typeface="Noto Sans"/>
                <a:ea typeface="Noto Sans"/>
                <a:cs typeface="Noto Sans"/>
                <a:sym typeface="Noto Sans"/>
              </a:rPr>
              <a:t>şirket dokümanı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5" name="Google Shape;455;p11"/>
          <p:cNvSpPr/>
          <p:nvPr/>
        </p:nvSpPr>
        <p:spPr>
          <a:xfrm>
            <a:off x="896112" y="3529584"/>
            <a:ext cx="11430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C7E7"/>
              </a:buClr>
              <a:buSzPts val="3200"/>
              <a:buFont typeface="Noto Sans"/>
              <a:buNone/>
            </a:pPr>
            <a:r>
              <a:rPr b="1" i="0" lang="en-US" sz="3200" u="none" cap="none" strike="noStrike">
                <a:solidFill>
                  <a:srgbClr val="7CC7E7"/>
                </a:solidFill>
                <a:latin typeface="Noto Sans"/>
                <a:ea typeface="Noto Sans"/>
                <a:cs typeface="Noto Sans"/>
                <a:sym typeface="Noto Sans"/>
              </a:rPr>
              <a:t>5.000</a:t>
            </a:r>
            <a:endParaRPr b="0" i="0" sz="3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6" name="Google Shape;456;p11"/>
          <p:cNvSpPr/>
          <p:nvPr/>
        </p:nvSpPr>
        <p:spPr>
          <a:xfrm>
            <a:off x="2105440" y="3698813"/>
            <a:ext cx="1024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FEA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D7DFEA"/>
                </a:solidFill>
                <a:latin typeface="Noto Sans"/>
                <a:ea typeface="Noto Sans"/>
                <a:cs typeface="Noto Sans"/>
                <a:sym typeface="Noto Sans"/>
              </a:rPr>
              <a:t>soru-cevap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7" name="Google Shape;457;p11"/>
          <p:cNvSpPr/>
          <p:nvPr/>
        </p:nvSpPr>
        <p:spPr>
          <a:xfrm>
            <a:off x="896112" y="4462272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Geri bildirim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8" name="Google Shape;458;p11"/>
          <p:cNvSpPr/>
          <p:nvPr/>
        </p:nvSpPr>
        <p:spPr>
          <a:xfrm>
            <a:off x="896112" y="4828032"/>
            <a:ext cx="2212848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FEA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D7DFEA"/>
                </a:solidFill>
                <a:latin typeface="Noto Sans"/>
                <a:ea typeface="Noto Sans"/>
                <a:cs typeface="Noto Sans"/>
                <a:sym typeface="Noto Sans"/>
              </a:rPr>
              <a:t>PII temizliği, izin, deduplication ve insan kontrolü olmadan eğitim verisine dönüşmez.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9" name="Google Shape;459;p11"/>
          <p:cNvSpPr/>
          <p:nvPr/>
        </p:nvSpPr>
        <p:spPr>
          <a:xfrm>
            <a:off x="3877056" y="1847088"/>
            <a:ext cx="7662672" cy="768096"/>
          </a:xfrm>
          <a:prstGeom prst="roundRect">
            <a:avLst>
              <a:gd fmla="val 7143" name="adj"/>
            </a:avLst>
          </a:prstGeom>
          <a:solidFill>
            <a:srgbClr val="E7F4EF"/>
          </a:solidFill>
          <a:ln cap="flat" cmpd="sng" w="10150">
            <a:solidFill>
              <a:srgbClr val="BEDC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1"/>
          <p:cNvSpPr/>
          <p:nvPr/>
        </p:nvSpPr>
        <p:spPr>
          <a:xfrm>
            <a:off x="4142232" y="1956816"/>
            <a:ext cx="47548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7A5B"/>
              </a:buClr>
              <a:buSzPts val="1500"/>
              <a:buFont typeface="Noto Sans"/>
              <a:buNone/>
            </a:pPr>
            <a:r>
              <a:rPr b="1" i="0" lang="en-US" sz="1500" u="none" cap="none" strike="noStrike">
                <a:solidFill>
                  <a:srgbClr val="177A5B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1" name="Google Shape;461;p11"/>
          <p:cNvSpPr/>
          <p:nvPr/>
        </p:nvSpPr>
        <p:spPr>
          <a:xfrm>
            <a:off x="4718304" y="1947672"/>
            <a:ext cx="1682496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1420"/>
              <a:buFont typeface="Noto Sans"/>
              <a:buNone/>
            </a:pPr>
            <a:r>
              <a:rPr b="1" i="0" lang="en-US" sz="142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Prompt + retrieval</a:t>
            </a:r>
            <a:endParaRPr b="0" i="0" sz="14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2" name="Google Shape;462;p11"/>
          <p:cNvSpPr/>
          <p:nvPr/>
        </p:nvSpPr>
        <p:spPr>
          <a:xfrm>
            <a:off x="6501375" y="2020964"/>
            <a:ext cx="4736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1060"/>
              <a:buFont typeface="Noto Sans"/>
              <a:buNone/>
            </a:pPr>
            <a:r>
              <a:rPr b="0" i="0" lang="en-US" sz="106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İlk iyileştirme alanı. Golden set ile retrieval ve cevap hatasını ayır.</a:t>
            </a:r>
            <a:endParaRPr b="0" i="0" sz="106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463" name="Google Shape;463;p11"/>
          <p:cNvCxnSpPr/>
          <p:nvPr/>
        </p:nvCxnSpPr>
        <p:spPr>
          <a:xfrm>
            <a:off x="4379976" y="2615184"/>
            <a:ext cx="0" cy="173736"/>
          </a:xfrm>
          <a:prstGeom prst="straightConnector1">
            <a:avLst/>
          </a:prstGeom>
          <a:noFill/>
          <a:ln cap="flat" cmpd="sng" w="15225">
            <a:solidFill>
              <a:srgbClr val="76829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64" name="Google Shape;464;p11"/>
          <p:cNvSpPr/>
          <p:nvPr/>
        </p:nvSpPr>
        <p:spPr>
          <a:xfrm>
            <a:off x="3877056" y="2788920"/>
            <a:ext cx="7662672" cy="768096"/>
          </a:xfrm>
          <a:prstGeom prst="roundRect">
            <a:avLst>
              <a:gd fmla="val 7143" name="adj"/>
            </a:avLst>
          </a:prstGeom>
          <a:solidFill>
            <a:srgbClr val="F4F6F8"/>
          </a:solidFill>
          <a:ln cap="flat" cmpd="sng" w="1015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1"/>
          <p:cNvSpPr/>
          <p:nvPr/>
        </p:nvSpPr>
        <p:spPr>
          <a:xfrm>
            <a:off x="4142232" y="2898648"/>
            <a:ext cx="47548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1500"/>
              <a:buFont typeface="Noto Sans"/>
              <a:buNone/>
            </a:pPr>
            <a:r>
              <a:rPr b="1" i="0" lang="en-US" sz="150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6" name="Google Shape;466;p11"/>
          <p:cNvSpPr/>
          <p:nvPr/>
        </p:nvSpPr>
        <p:spPr>
          <a:xfrm>
            <a:off x="4718304" y="2889504"/>
            <a:ext cx="1682496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1420"/>
              <a:buFont typeface="Noto Sans"/>
              <a:buNone/>
            </a:pPr>
            <a:r>
              <a:rPr b="1" i="0" lang="en-US" sz="142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SFT</a:t>
            </a:r>
            <a:endParaRPr b="0" i="0" sz="14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7" name="Google Shape;467;p11"/>
          <p:cNvSpPr/>
          <p:nvPr/>
        </p:nvSpPr>
        <p:spPr>
          <a:xfrm>
            <a:off x="6501375" y="2981105"/>
            <a:ext cx="4736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1060"/>
              <a:buFont typeface="Noto Sans"/>
              <a:buNone/>
            </a:pPr>
            <a:r>
              <a:rPr b="0" i="0" lang="en-US" sz="106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Tekrarlayan format, intent ve tool-use davranışı için koşullu.</a:t>
            </a:r>
            <a:endParaRPr b="0" i="0" sz="106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468" name="Google Shape;468;p11"/>
          <p:cNvCxnSpPr/>
          <p:nvPr/>
        </p:nvCxnSpPr>
        <p:spPr>
          <a:xfrm>
            <a:off x="4379976" y="3557016"/>
            <a:ext cx="0" cy="173736"/>
          </a:xfrm>
          <a:prstGeom prst="straightConnector1">
            <a:avLst/>
          </a:prstGeom>
          <a:noFill/>
          <a:ln cap="flat" cmpd="sng" w="15225">
            <a:solidFill>
              <a:srgbClr val="76829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69" name="Google Shape;469;p11"/>
          <p:cNvSpPr/>
          <p:nvPr/>
        </p:nvSpPr>
        <p:spPr>
          <a:xfrm>
            <a:off x="3877056" y="3730752"/>
            <a:ext cx="7662672" cy="768096"/>
          </a:xfrm>
          <a:prstGeom prst="roundRect">
            <a:avLst>
              <a:gd fmla="val 7143" name="adj"/>
            </a:avLst>
          </a:prstGeom>
          <a:solidFill>
            <a:srgbClr val="FBE8EC"/>
          </a:solidFill>
          <a:ln cap="flat" cmpd="sng" w="10150">
            <a:solidFill>
              <a:srgbClr val="F0B5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1"/>
          <p:cNvSpPr/>
          <p:nvPr/>
        </p:nvSpPr>
        <p:spPr>
          <a:xfrm>
            <a:off x="4142232" y="3840480"/>
            <a:ext cx="47548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500"/>
              <a:buFont typeface="Noto Sans"/>
              <a:buNone/>
            </a:pPr>
            <a:r>
              <a:rPr b="1" i="0" lang="en-US" sz="1500" u="none" cap="none" strike="noStrike">
                <a:solidFill>
                  <a:srgbClr val="C8102E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1" name="Google Shape;471;p11"/>
          <p:cNvSpPr/>
          <p:nvPr/>
        </p:nvSpPr>
        <p:spPr>
          <a:xfrm>
            <a:off x="4718304" y="3831336"/>
            <a:ext cx="1682496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1420"/>
              <a:buFont typeface="Noto Sans"/>
              <a:buNone/>
            </a:pPr>
            <a:r>
              <a:rPr b="1" i="0" lang="en-US" sz="142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RFT</a:t>
            </a:r>
            <a:endParaRPr b="0" i="0" sz="14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2" name="Google Shape;472;p11"/>
          <p:cNvSpPr/>
          <p:nvPr/>
        </p:nvSpPr>
        <p:spPr>
          <a:xfrm>
            <a:off x="6501375" y="3882524"/>
            <a:ext cx="47367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1060"/>
              <a:buFont typeface="Noto Sans"/>
              <a:buNone/>
            </a:pPr>
            <a:r>
              <a:rPr b="0" i="0" lang="en-US" sz="106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Citation, groundedness, no-answer ve kapsam için güvenilir grader varsa daha anlamlı.</a:t>
            </a:r>
            <a:endParaRPr b="0" i="0" sz="106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473" name="Google Shape;473;p11"/>
          <p:cNvCxnSpPr/>
          <p:nvPr/>
        </p:nvCxnSpPr>
        <p:spPr>
          <a:xfrm>
            <a:off x="4379976" y="4498848"/>
            <a:ext cx="0" cy="173736"/>
          </a:xfrm>
          <a:prstGeom prst="straightConnector1">
            <a:avLst/>
          </a:prstGeom>
          <a:noFill/>
          <a:ln cap="flat" cmpd="sng" w="15225">
            <a:solidFill>
              <a:srgbClr val="76829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74" name="Google Shape;474;p11"/>
          <p:cNvSpPr/>
          <p:nvPr/>
        </p:nvSpPr>
        <p:spPr>
          <a:xfrm>
            <a:off x="3877056" y="4672584"/>
            <a:ext cx="7662672" cy="768096"/>
          </a:xfrm>
          <a:prstGeom prst="roundRect">
            <a:avLst>
              <a:gd fmla="val 7143" name="adj"/>
            </a:avLst>
          </a:prstGeom>
          <a:solidFill>
            <a:srgbClr val="E3F0F6"/>
          </a:solidFill>
          <a:ln cap="flat" cmpd="sng" w="10150">
            <a:solidFill>
              <a:srgbClr val="BFD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1"/>
          <p:cNvSpPr/>
          <p:nvPr/>
        </p:nvSpPr>
        <p:spPr>
          <a:xfrm>
            <a:off x="4142232" y="4782312"/>
            <a:ext cx="47548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6B8E"/>
              </a:buClr>
              <a:buSzPts val="1500"/>
              <a:buFont typeface="Noto Sans"/>
              <a:buNone/>
            </a:pPr>
            <a:r>
              <a:rPr b="1" i="0" lang="en-US" sz="1500" u="none" cap="none" strike="noStrike">
                <a:solidFill>
                  <a:srgbClr val="246B8E"/>
                </a:solidFill>
                <a:latin typeface="Noto Sans"/>
                <a:ea typeface="Noto Sans"/>
                <a:cs typeface="Noto Sans"/>
                <a:sym typeface="Noto Sans"/>
              </a:rPr>
              <a:t>04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6" name="Google Shape;476;p11"/>
          <p:cNvSpPr/>
          <p:nvPr/>
        </p:nvSpPr>
        <p:spPr>
          <a:xfrm>
            <a:off x="4718304" y="4773168"/>
            <a:ext cx="1682496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1420"/>
              <a:buFont typeface="Noto Sans"/>
              <a:buNone/>
            </a:pPr>
            <a:r>
              <a:rPr b="1" i="0" lang="en-US" sz="142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Open-source pilot</a:t>
            </a:r>
            <a:endParaRPr b="0" i="0" sz="14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7" name="Google Shape;477;p11"/>
          <p:cNvSpPr/>
          <p:nvPr/>
        </p:nvSpPr>
        <p:spPr>
          <a:xfrm>
            <a:off x="6501375" y="4860187"/>
            <a:ext cx="47367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533"/>
              </a:buClr>
              <a:buSzPts val="1060"/>
              <a:buFont typeface="Noto Sans"/>
              <a:buNone/>
            </a:pPr>
            <a:r>
              <a:rPr b="0" i="0" lang="en-US" sz="1060" u="none" cap="none" strike="noStrike">
                <a:solidFill>
                  <a:srgbClr val="1D2533"/>
                </a:solidFill>
                <a:latin typeface="Noto Sans"/>
                <a:ea typeface="Noto Sans"/>
                <a:cs typeface="Noto Sans"/>
                <a:sym typeface="Noto Sans"/>
              </a:rPr>
              <a:t>TRL + GRPO/RLOO; LoRA/QLoRA ve vLLM ile maliyet/kalite karşılaştırması.</a:t>
            </a:r>
            <a:endParaRPr b="0" i="0" sz="106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8" name="Google Shape;478;p11"/>
          <p:cNvSpPr/>
          <p:nvPr/>
        </p:nvSpPr>
        <p:spPr>
          <a:xfrm>
            <a:off x="3886200" y="5733288"/>
            <a:ext cx="804672" cy="310896"/>
          </a:xfrm>
          <a:prstGeom prst="roundRect">
            <a:avLst>
              <a:gd fmla="val 23529" name="adj"/>
            </a:avLst>
          </a:prstGeom>
          <a:solidFill>
            <a:srgbClr val="C8102E"/>
          </a:solidFill>
          <a:ln cap="flat" cmpd="sng" w="9525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1"/>
          <p:cNvSpPr/>
          <p:nvPr/>
        </p:nvSpPr>
        <p:spPr>
          <a:xfrm>
            <a:off x="3959352" y="5760720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KARAR</a:t>
            </a:r>
            <a:endParaRPr b="0" i="0" sz="9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0" name="Google Shape;480;p11"/>
          <p:cNvSpPr/>
          <p:nvPr/>
        </p:nvSpPr>
        <p:spPr>
          <a:xfrm>
            <a:off x="4855464" y="5705856"/>
            <a:ext cx="6355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173"/>
              </a:buClr>
              <a:buSzPts val="1090"/>
              <a:buFont typeface="Noto Sans"/>
              <a:buNone/>
            </a:pPr>
            <a:r>
              <a:rPr b="0" i="0" lang="en-US" sz="1090" u="none" cap="none" strike="noStrike">
                <a:solidFill>
                  <a:srgbClr val="526173"/>
                </a:solidFill>
                <a:latin typeface="Noto Sans"/>
                <a:ea typeface="Noto Sans"/>
                <a:cs typeface="Noto Sans"/>
                <a:sym typeface="Noto Sans"/>
              </a:rPr>
              <a:t>RFT retrieval recall’ı tek başına çözmez; doğru evidence kullanma ve cevaplama davranışını geliştirir.</a:t>
            </a:r>
            <a:endParaRPr b="0" i="0" sz="109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1" name="Google Shape;481;p11"/>
          <p:cNvSpPr/>
          <p:nvPr/>
        </p:nvSpPr>
        <p:spPr>
          <a:xfrm>
            <a:off x="841248" y="633679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173"/>
              </a:buClr>
              <a:buSzPts val="870"/>
              <a:buFont typeface="Noto Sans"/>
              <a:buNone/>
            </a:pPr>
            <a:r>
              <a:rPr b="1" i="0" lang="en-US" sz="870" u="none" cap="none" strike="noStrike">
                <a:solidFill>
                  <a:srgbClr val="526173"/>
                </a:solidFill>
                <a:latin typeface="Noto Sans"/>
                <a:ea typeface="Noto Sans"/>
                <a:cs typeface="Noto Sans"/>
                <a:sym typeface="Noto Sans"/>
              </a:rPr>
              <a:t>TURKISH AIRLINES  ·  DOCUMENT INTELLIGENCE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2" name="Google Shape;482;p11"/>
          <p:cNvSpPr/>
          <p:nvPr/>
        </p:nvSpPr>
        <p:spPr>
          <a:xfrm>
            <a:off x="11173968" y="633679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11B2E"/>
              </a:buClr>
              <a:buSzPts val="900"/>
              <a:buFont typeface="Noto Sans"/>
              <a:buNone/>
            </a:pPr>
            <a:r>
              <a:rPr b="1" i="0" lang="en-US" sz="900" u="none" cap="none" strike="noStrike">
                <a:solidFill>
                  <a:srgbClr val="111B2E"/>
                </a:solidFill>
                <a:latin typeface="Noto Sans"/>
                <a:ea typeface="Noto Sans"/>
                <a:cs typeface="Noto Sans"/>
                <a:sym typeface="Noto Sans"/>
              </a:rPr>
              <a:t>09</a:t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483" name="Google Shape;483;p11" title="thy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975" y="6185900"/>
            <a:ext cx="670568" cy="502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B2E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2"/>
          <p:cNvSpPr/>
          <p:nvPr/>
        </p:nvSpPr>
        <p:spPr>
          <a:xfrm>
            <a:off x="603504" y="347472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184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FF7184"/>
                </a:solidFill>
                <a:latin typeface="Noto Sans"/>
                <a:ea typeface="Noto Sans"/>
                <a:cs typeface="Noto Sans"/>
                <a:sym typeface="Noto Sans"/>
              </a:rPr>
              <a:t>THY CASE STUDY  /  10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90" name="Google Shape;490;p12"/>
          <p:cNvSpPr/>
          <p:nvPr/>
        </p:nvSpPr>
        <p:spPr>
          <a:xfrm>
            <a:off x="603504" y="749808"/>
            <a:ext cx="9784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Noto Sans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Altı aylık yol haritası ve sonuç</a:t>
            </a:r>
            <a:endParaRPr b="0" i="0" sz="2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91" name="Google Shape;491;p12"/>
          <p:cNvSpPr/>
          <p:nvPr/>
        </p:nvSpPr>
        <p:spPr>
          <a:xfrm>
            <a:off x="621792" y="1307592"/>
            <a:ext cx="9921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C9D7"/>
              </a:buClr>
              <a:buSzPts val="1270"/>
              <a:buFont typeface="Noto Sans"/>
              <a:buNone/>
            </a:pPr>
            <a:r>
              <a:rPr b="0" i="0" lang="en-US" sz="1270" u="none" cap="none" strike="noStrike">
                <a:solidFill>
                  <a:srgbClr val="BFC9D7"/>
                </a:solidFill>
                <a:latin typeface="Noto Sans"/>
                <a:ea typeface="Noto Sans"/>
                <a:cs typeface="Noto Sans"/>
                <a:sym typeface="Noto Sans"/>
              </a:rPr>
              <a:t>Önce güvenli ve ölçülebilir temel; sonra kalite ve ölçek; en son model ekonomisi.</a:t>
            </a:r>
            <a:endParaRPr b="0" i="0" sz="12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92" name="Google Shape;492;p12"/>
          <p:cNvSpPr/>
          <p:nvPr/>
        </p:nvSpPr>
        <p:spPr>
          <a:xfrm rot="720000">
            <a:off x="10863072" y="45720"/>
            <a:ext cx="950976" cy="658368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E31837">
              <a:alpha val="0"/>
            </a:srgbClr>
          </a:solidFill>
          <a:ln cap="flat" cmpd="sng" w="27925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2"/>
          <p:cNvSpPr/>
          <p:nvPr/>
        </p:nvSpPr>
        <p:spPr>
          <a:xfrm>
            <a:off x="11676888" y="411480"/>
            <a:ext cx="100584" cy="100584"/>
          </a:xfrm>
          <a:prstGeom prst="ellipse">
            <a:avLst/>
          </a:prstGeom>
          <a:solidFill>
            <a:srgbClr val="E31837"/>
          </a:solidFill>
          <a:ln cap="flat" cmpd="sng" w="12700">
            <a:solidFill>
              <a:srgbClr val="E318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2"/>
          <p:cNvSpPr/>
          <p:nvPr/>
        </p:nvSpPr>
        <p:spPr>
          <a:xfrm>
            <a:off x="621792" y="1901952"/>
            <a:ext cx="3154680" cy="2999232"/>
          </a:xfrm>
          <a:prstGeom prst="roundRect">
            <a:avLst>
              <a:gd fmla="val 1829" name="adj"/>
            </a:avLst>
          </a:prstGeom>
          <a:solidFill>
            <a:srgbClr val="1A2941"/>
          </a:solidFill>
          <a:ln cap="flat" cmpd="sng" w="10150">
            <a:solidFill>
              <a:srgbClr val="4251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2"/>
          <p:cNvSpPr/>
          <p:nvPr/>
        </p:nvSpPr>
        <p:spPr>
          <a:xfrm>
            <a:off x="859536" y="2084832"/>
            <a:ext cx="4389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C8102E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96" name="Google Shape;496;p12"/>
          <p:cNvSpPr/>
          <p:nvPr/>
        </p:nvSpPr>
        <p:spPr>
          <a:xfrm>
            <a:off x="2523744" y="2093976"/>
            <a:ext cx="9326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6C6"/>
              </a:buClr>
              <a:buSzPts val="930"/>
              <a:buFont typeface="Noto Sans"/>
              <a:buNone/>
            </a:pPr>
            <a:r>
              <a:rPr b="0" i="0" lang="en-US" sz="930" u="none" cap="none" strike="noStrike">
                <a:solidFill>
                  <a:srgbClr val="AAB6C6"/>
                </a:solidFill>
                <a:latin typeface="Noto Sans"/>
                <a:ea typeface="Noto Sans"/>
                <a:cs typeface="Noto Sans"/>
                <a:sym typeface="Noto Sans"/>
              </a:rPr>
              <a:t>Hafta 1–8</a:t>
            </a:r>
            <a:endParaRPr b="0" i="0" sz="9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97" name="Google Shape;497;p12"/>
          <p:cNvSpPr/>
          <p:nvPr/>
        </p:nvSpPr>
        <p:spPr>
          <a:xfrm>
            <a:off x="859536" y="2532888"/>
            <a:ext cx="2578608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Güvenli pilot</a:t>
            </a:r>
            <a:endParaRPr b="0" i="0" sz="1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98" name="Google Shape;498;p12"/>
          <p:cNvSpPr/>
          <p:nvPr/>
        </p:nvSpPr>
        <p:spPr>
          <a:xfrm>
            <a:off x="896112" y="3145536"/>
            <a:ext cx="82296" cy="82296"/>
          </a:xfrm>
          <a:prstGeom prst="ellipse">
            <a:avLst/>
          </a:prstGeom>
          <a:solidFill>
            <a:srgbClr val="C8102E"/>
          </a:solidFill>
          <a:ln cap="flat" cmpd="sng" w="12700">
            <a:solidFill>
              <a:srgbClr val="C810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2"/>
          <p:cNvSpPr/>
          <p:nvPr/>
        </p:nvSpPr>
        <p:spPr>
          <a:xfrm>
            <a:off x="1106424" y="3044952"/>
            <a:ext cx="22494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070"/>
              <a:buFont typeface="Noto Sans"/>
              <a:buNone/>
            </a:pPr>
            <a:r>
              <a:rPr b="0" i="0" lang="en-US" sz="1070" u="none" cap="none" strike="noStrike">
                <a:solidFill>
                  <a:srgbClr val="DCE3EC"/>
                </a:solidFill>
                <a:latin typeface="Noto Sans"/>
                <a:ea typeface="Noto Sans"/>
                <a:cs typeface="Noto Sans"/>
                <a:sym typeface="Noto Sans"/>
              </a:rPr>
              <a:t>OIDC / Entra ID</a:t>
            </a:r>
            <a:endParaRPr b="0" i="0" sz="10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0" name="Google Shape;500;p12"/>
          <p:cNvSpPr/>
          <p:nvPr/>
        </p:nvSpPr>
        <p:spPr>
          <a:xfrm>
            <a:off x="896112" y="3529584"/>
            <a:ext cx="82296" cy="82296"/>
          </a:xfrm>
          <a:prstGeom prst="ellipse">
            <a:avLst/>
          </a:prstGeom>
          <a:solidFill>
            <a:srgbClr val="C8102E"/>
          </a:solidFill>
          <a:ln cap="flat" cmpd="sng" w="12700">
            <a:solidFill>
              <a:srgbClr val="C810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2"/>
          <p:cNvSpPr/>
          <p:nvPr/>
        </p:nvSpPr>
        <p:spPr>
          <a:xfrm>
            <a:off x="1106424" y="3429000"/>
            <a:ext cx="22494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070"/>
              <a:buFont typeface="Noto Sans"/>
              <a:buNone/>
            </a:pPr>
            <a:r>
              <a:rPr b="0" i="0" lang="en-US" sz="1070" u="none" cap="none" strike="noStrike">
                <a:solidFill>
                  <a:srgbClr val="DCE3EC"/>
                </a:solidFill>
                <a:latin typeface="Noto Sans"/>
                <a:ea typeface="Noto Sans"/>
                <a:cs typeface="Noto Sans"/>
                <a:sym typeface="Noto Sans"/>
              </a:rPr>
              <a:t>Dayanıklı ingestion kuyruğu</a:t>
            </a:r>
            <a:endParaRPr b="0" i="0" sz="10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2" name="Google Shape;502;p12"/>
          <p:cNvSpPr/>
          <p:nvPr/>
        </p:nvSpPr>
        <p:spPr>
          <a:xfrm>
            <a:off x="896112" y="3913632"/>
            <a:ext cx="82296" cy="82296"/>
          </a:xfrm>
          <a:prstGeom prst="ellipse">
            <a:avLst/>
          </a:prstGeom>
          <a:solidFill>
            <a:srgbClr val="C8102E"/>
          </a:solidFill>
          <a:ln cap="flat" cmpd="sng" w="12700">
            <a:solidFill>
              <a:srgbClr val="C810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2"/>
          <p:cNvSpPr/>
          <p:nvPr/>
        </p:nvSpPr>
        <p:spPr>
          <a:xfrm>
            <a:off x="1106424" y="3813048"/>
            <a:ext cx="22494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070"/>
              <a:buFont typeface="Noto Sans"/>
              <a:buNone/>
            </a:pPr>
            <a:r>
              <a:rPr b="0" i="0" lang="en-US" sz="1070" u="none" cap="none" strike="noStrike">
                <a:solidFill>
                  <a:srgbClr val="DCE3EC"/>
                </a:solidFill>
                <a:latin typeface="Noto Sans"/>
                <a:ea typeface="Noto Sans"/>
                <a:cs typeface="Noto Sans"/>
                <a:sym typeface="Noto Sans"/>
              </a:rPr>
              <a:t>OpenTelemetry başlangıcı</a:t>
            </a:r>
            <a:endParaRPr b="0" i="0" sz="10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4" name="Google Shape;504;p12"/>
          <p:cNvSpPr/>
          <p:nvPr/>
        </p:nvSpPr>
        <p:spPr>
          <a:xfrm>
            <a:off x="896112" y="4297680"/>
            <a:ext cx="82296" cy="82296"/>
          </a:xfrm>
          <a:prstGeom prst="ellipse">
            <a:avLst/>
          </a:prstGeom>
          <a:solidFill>
            <a:srgbClr val="C8102E"/>
          </a:solidFill>
          <a:ln cap="flat" cmpd="sng" w="12700">
            <a:solidFill>
              <a:srgbClr val="C810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2"/>
          <p:cNvSpPr/>
          <p:nvPr/>
        </p:nvSpPr>
        <p:spPr>
          <a:xfrm>
            <a:off x="1106424" y="4197096"/>
            <a:ext cx="22494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070"/>
              <a:buFont typeface="Noto Sans"/>
              <a:buNone/>
            </a:pPr>
            <a:r>
              <a:rPr b="0" i="0" lang="en-US" sz="1070" u="none" cap="none" strike="noStrike">
                <a:solidFill>
                  <a:srgbClr val="DCE3EC"/>
                </a:solidFill>
                <a:latin typeface="Noto Sans"/>
                <a:ea typeface="Noto Sans"/>
                <a:cs typeface="Noto Sans"/>
                <a:sym typeface="Noto Sans"/>
              </a:rPr>
              <a:t>THY evaluation set v1</a:t>
            </a:r>
            <a:endParaRPr b="0" i="0" sz="10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6" name="Google Shape;506;p12"/>
          <p:cNvSpPr/>
          <p:nvPr/>
        </p:nvSpPr>
        <p:spPr>
          <a:xfrm>
            <a:off x="4078224" y="1901952"/>
            <a:ext cx="3154680" cy="2999232"/>
          </a:xfrm>
          <a:prstGeom prst="roundRect">
            <a:avLst>
              <a:gd fmla="val 1829" name="adj"/>
            </a:avLst>
          </a:prstGeom>
          <a:solidFill>
            <a:srgbClr val="1A2941"/>
          </a:solidFill>
          <a:ln cap="flat" cmpd="sng" w="10150">
            <a:solidFill>
              <a:srgbClr val="4251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2"/>
          <p:cNvSpPr/>
          <p:nvPr/>
        </p:nvSpPr>
        <p:spPr>
          <a:xfrm>
            <a:off x="4315968" y="2084832"/>
            <a:ext cx="4389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6B8E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246B8E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8" name="Google Shape;508;p12"/>
          <p:cNvSpPr/>
          <p:nvPr/>
        </p:nvSpPr>
        <p:spPr>
          <a:xfrm>
            <a:off x="5980176" y="2093976"/>
            <a:ext cx="9326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6C6"/>
              </a:buClr>
              <a:buSzPts val="930"/>
              <a:buFont typeface="Noto Sans"/>
              <a:buNone/>
            </a:pPr>
            <a:r>
              <a:rPr b="0" i="0" lang="en-US" sz="930" u="none" cap="none" strike="noStrike">
                <a:solidFill>
                  <a:srgbClr val="AAB6C6"/>
                </a:solidFill>
                <a:latin typeface="Noto Sans"/>
                <a:ea typeface="Noto Sans"/>
                <a:cs typeface="Noto Sans"/>
                <a:sym typeface="Noto Sans"/>
              </a:rPr>
              <a:t>Hafta 9–16</a:t>
            </a:r>
            <a:endParaRPr b="0" i="0" sz="9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9" name="Google Shape;509;p12"/>
          <p:cNvSpPr/>
          <p:nvPr/>
        </p:nvSpPr>
        <p:spPr>
          <a:xfrm>
            <a:off x="4315968" y="2532888"/>
            <a:ext cx="2578608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Kalite ve ölçek</a:t>
            </a:r>
            <a:endParaRPr b="0" i="0" sz="1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0" name="Google Shape;510;p12"/>
          <p:cNvSpPr/>
          <p:nvPr/>
        </p:nvSpPr>
        <p:spPr>
          <a:xfrm>
            <a:off x="4352544" y="3145536"/>
            <a:ext cx="82296" cy="82296"/>
          </a:xfrm>
          <a:prstGeom prst="ellipse">
            <a:avLst/>
          </a:prstGeom>
          <a:solidFill>
            <a:srgbClr val="246B8E"/>
          </a:solidFill>
          <a:ln cap="flat" cmpd="sng" w="12700">
            <a:solidFill>
              <a:srgbClr val="246B8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2"/>
          <p:cNvSpPr/>
          <p:nvPr/>
        </p:nvSpPr>
        <p:spPr>
          <a:xfrm>
            <a:off x="4562856" y="3044952"/>
            <a:ext cx="22494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070"/>
              <a:buFont typeface="Noto Sans"/>
              <a:buNone/>
            </a:pPr>
            <a:r>
              <a:rPr b="0" i="0" lang="en-US" sz="1070" u="none" cap="none" strike="noStrike">
                <a:solidFill>
                  <a:srgbClr val="DCE3EC"/>
                </a:solidFill>
                <a:latin typeface="Noto Sans"/>
                <a:ea typeface="Noto Sans"/>
                <a:cs typeface="Noto Sans"/>
                <a:sym typeface="Noto Sans"/>
              </a:rPr>
              <a:t>OCR / vision routing</a:t>
            </a:r>
            <a:endParaRPr b="0" i="0" sz="10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2" name="Google Shape;512;p12"/>
          <p:cNvSpPr/>
          <p:nvPr/>
        </p:nvSpPr>
        <p:spPr>
          <a:xfrm>
            <a:off x="4352544" y="3529584"/>
            <a:ext cx="82296" cy="82296"/>
          </a:xfrm>
          <a:prstGeom prst="ellipse">
            <a:avLst/>
          </a:prstGeom>
          <a:solidFill>
            <a:srgbClr val="246B8E"/>
          </a:solidFill>
          <a:ln cap="flat" cmpd="sng" w="12700">
            <a:solidFill>
              <a:srgbClr val="246B8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2"/>
          <p:cNvSpPr/>
          <p:nvPr/>
        </p:nvSpPr>
        <p:spPr>
          <a:xfrm>
            <a:off x="4562856" y="3429000"/>
            <a:ext cx="22494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070"/>
              <a:buFont typeface="Noto Sans"/>
              <a:buNone/>
            </a:pPr>
            <a:r>
              <a:rPr b="0" i="0" lang="en-US" sz="1070" u="none" cap="none" strike="noStrike">
                <a:solidFill>
                  <a:srgbClr val="DCE3EC"/>
                </a:solidFill>
                <a:latin typeface="Noto Sans"/>
                <a:ea typeface="Noto Sans"/>
                <a:cs typeface="Noto Sans"/>
                <a:sym typeface="Noto Sans"/>
              </a:rPr>
              <a:t>Model router shadow mode</a:t>
            </a:r>
            <a:endParaRPr b="0" i="0" sz="10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4" name="Google Shape;514;p12"/>
          <p:cNvSpPr/>
          <p:nvPr/>
        </p:nvSpPr>
        <p:spPr>
          <a:xfrm>
            <a:off x="4352544" y="3913632"/>
            <a:ext cx="82296" cy="82296"/>
          </a:xfrm>
          <a:prstGeom prst="ellipse">
            <a:avLst/>
          </a:prstGeom>
          <a:solidFill>
            <a:srgbClr val="246B8E"/>
          </a:solidFill>
          <a:ln cap="flat" cmpd="sng" w="12700">
            <a:solidFill>
              <a:srgbClr val="246B8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2"/>
          <p:cNvSpPr/>
          <p:nvPr/>
        </p:nvSpPr>
        <p:spPr>
          <a:xfrm>
            <a:off x="4562856" y="3813048"/>
            <a:ext cx="22494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070"/>
              <a:buFont typeface="Noto Sans"/>
              <a:buNone/>
            </a:pPr>
            <a:r>
              <a:rPr b="0" i="0" lang="en-US" sz="1070" u="none" cap="none" strike="noStrike">
                <a:solidFill>
                  <a:srgbClr val="DCE3EC"/>
                </a:solidFill>
                <a:latin typeface="Noto Sans"/>
                <a:ea typeface="Noto Sans"/>
                <a:cs typeface="Noto Sans"/>
                <a:sym typeface="Noto Sans"/>
              </a:rPr>
              <a:t>Streaming + feedback</a:t>
            </a:r>
            <a:endParaRPr b="0" i="0" sz="10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6" name="Google Shape;516;p12"/>
          <p:cNvSpPr/>
          <p:nvPr/>
        </p:nvSpPr>
        <p:spPr>
          <a:xfrm>
            <a:off x="4352544" y="4297680"/>
            <a:ext cx="82296" cy="82296"/>
          </a:xfrm>
          <a:prstGeom prst="ellipse">
            <a:avLst/>
          </a:prstGeom>
          <a:solidFill>
            <a:srgbClr val="246B8E"/>
          </a:solidFill>
          <a:ln cap="flat" cmpd="sng" w="12700">
            <a:solidFill>
              <a:srgbClr val="246B8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2"/>
          <p:cNvSpPr/>
          <p:nvPr/>
        </p:nvSpPr>
        <p:spPr>
          <a:xfrm>
            <a:off x="4562856" y="4197096"/>
            <a:ext cx="22494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070"/>
              <a:buFont typeface="Noto Sans"/>
              <a:buNone/>
            </a:pPr>
            <a:r>
              <a:rPr b="0" i="0" lang="en-US" sz="1070" u="none" cap="none" strike="noStrike">
                <a:solidFill>
                  <a:srgbClr val="DCE3EC"/>
                </a:solidFill>
                <a:latin typeface="Noto Sans"/>
                <a:ea typeface="Noto Sans"/>
                <a:cs typeface="Noto Sans"/>
                <a:sym typeface="Noto Sans"/>
              </a:rPr>
              <a:t>Load ve retrieval testleri</a:t>
            </a:r>
            <a:endParaRPr b="0" i="0" sz="10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8" name="Google Shape;518;p12"/>
          <p:cNvSpPr/>
          <p:nvPr/>
        </p:nvSpPr>
        <p:spPr>
          <a:xfrm>
            <a:off x="7534656" y="1901952"/>
            <a:ext cx="3154680" cy="2999232"/>
          </a:xfrm>
          <a:prstGeom prst="roundRect">
            <a:avLst>
              <a:gd fmla="val 1829" name="adj"/>
            </a:avLst>
          </a:prstGeom>
          <a:solidFill>
            <a:srgbClr val="1A2941"/>
          </a:solidFill>
          <a:ln cap="flat" cmpd="sng" w="10150">
            <a:solidFill>
              <a:srgbClr val="4251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2"/>
          <p:cNvSpPr/>
          <p:nvPr/>
        </p:nvSpPr>
        <p:spPr>
          <a:xfrm>
            <a:off x="7772400" y="2084832"/>
            <a:ext cx="4389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7A5B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177A5B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0" name="Google Shape;520;p12"/>
          <p:cNvSpPr/>
          <p:nvPr/>
        </p:nvSpPr>
        <p:spPr>
          <a:xfrm>
            <a:off x="9436608" y="2093976"/>
            <a:ext cx="9326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6C6"/>
              </a:buClr>
              <a:buSzPts val="930"/>
              <a:buFont typeface="Noto Sans"/>
              <a:buNone/>
            </a:pPr>
            <a:r>
              <a:rPr b="0" i="0" lang="en-US" sz="930" u="none" cap="none" strike="noStrike">
                <a:solidFill>
                  <a:srgbClr val="AAB6C6"/>
                </a:solidFill>
                <a:latin typeface="Noto Sans"/>
                <a:ea typeface="Noto Sans"/>
                <a:cs typeface="Noto Sans"/>
                <a:sym typeface="Noto Sans"/>
              </a:rPr>
              <a:t>Hafta 17–24</a:t>
            </a:r>
            <a:endParaRPr b="0" i="0" sz="9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1" name="Google Shape;521;p12"/>
          <p:cNvSpPr/>
          <p:nvPr/>
        </p:nvSpPr>
        <p:spPr>
          <a:xfrm>
            <a:off x="7772400" y="2532888"/>
            <a:ext cx="2578608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Enterprise pilot</a:t>
            </a:r>
            <a:endParaRPr b="0" i="0" sz="1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2" name="Google Shape;522;p12"/>
          <p:cNvSpPr/>
          <p:nvPr/>
        </p:nvSpPr>
        <p:spPr>
          <a:xfrm>
            <a:off x="7808976" y="3145536"/>
            <a:ext cx="82296" cy="82296"/>
          </a:xfrm>
          <a:prstGeom prst="ellipse">
            <a:avLst/>
          </a:prstGeom>
          <a:solidFill>
            <a:srgbClr val="177A5B"/>
          </a:solidFill>
          <a:ln cap="flat" cmpd="sng" w="12700">
            <a:solidFill>
              <a:srgbClr val="177A5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2"/>
          <p:cNvSpPr/>
          <p:nvPr/>
        </p:nvSpPr>
        <p:spPr>
          <a:xfrm>
            <a:off x="8019288" y="3044952"/>
            <a:ext cx="22494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070"/>
              <a:buFont typeface="Noto Sans"/>
              <a:buNone/>
            </a:pPr>
            <a:r>
              <a:rPr b="0" i="0" lang="en-US" sz="1070" u="none" cap="none" strike="noStrike">
                <a:solidFill>
                  <a:srgbClr val="DCE3EC"/>
                </a:solidFill>
                <a:latin typeface="Noto Sans"/>
                <a:ea typeface="Noto Sans"/>
                <a:cs typeface="Noto Sans"/>
                <a:sym typeface="Noto Sans"/>
              </a:rPr>
              <a:t>Açık kaynak model pilotu</a:t>
            </a:r>
            <a:endParaRPr b="0" i="0" sz="10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4" name="Google Shape;524;p12"/>
          <p:cNvSpPr/>
          <p:nvPr/>
        </p:nvSpPr>
        <p:spPr>
          <a:xfrm>
            <a:off x="7808976" y="3529584"/>
            <a:ext cx="82296" cy="82296"/>
          </a:xfrm>
          <a:prstGeom prst="ellipse">
            <a:avLst/>
          </a:prstGeom>
          <a:solidFill>
            <a:srgbClr val="177A5B"/>
          </a:solidFill>
          <a:ln cap="flat" cmpd="sng" w="12700">
            <a:solidFill>
              <a:srgbClr val="177A5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2"/>
          <p:cNvSpPr/>
          <p:nvPr/>
        </p:nvSpPr>
        <p:spPr>
          <a:xfrm>
            <a:off x="8019288" y="3429000"/>
            <a:ext cx="22494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070"/>
              <a:buFont typeface="Noto Sans"/>
              <a:buNone/>
            </a:pPr>
            <a:r>
              <a:rPr b="0" i="0" lang="en-US" sz="1070" u="none" cap="none" strike="noStrike">
                <a:solidFill>
                  <a:srgbClr val="DCE3EC"/>
                </a:solidFill>
                <a:latin typeface="Noto Sans"/>
                <a:ea typeface="Noto Sans"/>
                <a:cs typeface="Noto Sans"/>
                <a:sym typeface="Noto Sans"/>
              </a:rPr>
              <a:t>Backup / restore ve DR</a:t>
            </a:r>
            <a:endParaRPr b="0" i="0" sz="10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6" name="Google Shape;526;p12"/>
          <p:cNvSpPr/>
          <p:nvPr/>
        </p:nvSpPr>
        <p:spPr>
          <a:xfrm>
            <a:off x="7808976" y="3913632"/>
            <a:ext cx="82296" cy="82296"/>
          </a:xfrm>
          <a:prstGeom prst="ellipse">
            <a:avLst/>
          </a:prstGeom>
          <a:solidFill>
            <a:srgbClr val="177A5B"/>
          </a:solidFill>
          <a:ln cap="flat" cmpd="sng" w="12700">
            <a:solidFill>
              <a:srgbClr val="177A5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2"/>
          <p:cNvSpPr/>
          <p:nvPr/>
        </p:nvSpPr>
        <p:spPr>
          <a:xfrm>
            <a:off x="8019288" y="3813048"/>
            <a:ext cx="22494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070"/>
              <a:buFont typeface="Noto Sans"/>
              <a:buNone/>
            </a:pPr>
            <a:r>
              <a:rPr b="0" i="0" lang="en-US" sz="1070" u="none" cap="none" strike="noStrike">
                <a:solidFill>
                  <a:srgbClr val="DCE3EC"/>
                </a:solidFill>
                <a:latin typeface="Noto Sans"/>
                <a:ea typeface="Noto Sans"/>
                <a:cs typeface="Noto Sans"/>
                <a:sym typeface="Noto Sans"/>
              </a:rPr>
              <a:t>Tenant quota ve rollout</a:t>
            </a:r>
            <a:endParaRPr b="0" i="0" sz="10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8" name="Google Shape;528;p12"/>
          <p:cNvSpPr/>
          <p:nvPr/>
        </p:nvSpPr>
        <p:spPr>
          <a:xfrm>
            <a:off x="7808976" y="4297680"/>
            <a:ext cx="82296" cy="82296"/>
          </a:xfrm>
          <a:prstGeom prst="ellipse">
            <a:avLst/>
          </a:prstGeom>
          <a:solidFill>
            <a:srgbClr val="177A5B"/>
          </a:solidFill>
          <a:ln cap="flat" cmpd="sng" w="12700">
            <a:solidFill>
              <a:srgbClr val="177A5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2"/>
          <p:cNvSpPr/>
          <p:nvPr/>
        </p:nvSpPr>
        <p:spPr>
          <a:xfrm>
            <a:off x="8019288" y="4197096"/>
            <a:ext cx="22494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070"/>
              <a:buFont typeface="Noto Sans"/>
              <a:buNone/>
            </a:pPr>
            <a:r>
              <a:rPr b="0" i="0" lang="en-US" sz="1070" u="none" cap="none" strike="noStrike">
                <a:solidFill>
                  <a:srgbClr val="DCE3EC"/>
                </a:solidFill>
                <a:latin typeface="Noto Sans"/>
                <a:ea typeface="Noto Sans"/>
                <a:cs typeface="Noto Sans"/>
                <a:sym typeface="Noto Sans"/>
              </a:rPr>
              <a:t>TCO + kalite kararı</a:t>
            </a:r>
            <a:endParaRPr b="0" i="0" sz="10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0" name="Google Shape;530;p12"/>
          <p:cNvSpPr/>
          <p:nvPr/>
        </p:nvSpPr>
        <p:spPr>
          <a:xfrm>
            <a:off x="841248" y="633679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FEA"/>
              </a:buClr>
              <a:buSzPts val="870"/>
              <a:buFont typeface="Noto Sans"/>
              <a:buNone/>
            </a:pPr>
            <a:r>
              <a:rPr b="1" i="0" lang="en-US" sz="870" u="none" cap="none" strike="noStrike">
                <a:solidFill>
                  <a:srgbClr val="D7DFEA"/>
                </a:solidFill>
                <a:latin typeface="Noto Sans"/>
                <a:ea typeface="Noto Sans"/>
                <a:cs typeface="Noto Sans"/>
                <a:sym typeface="Noto Sans"/>
              </a:rPr>
              <a:t>TURKISH AIRLINES  ·  DOCUMENT INTELLIGENCE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1" name="Google Shape;531;p12"/>
          <p:cNvSpPr/>
          <p:nvPr/>
        </p:nvSpPr>
        <p:spPr>
          <a:xfrm>
            <a:off x="11173968" y="633679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532" name="Google Shape;532;p12" title="thy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975" y="6185900"/>
            <a:ext cx="670568" cy="502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